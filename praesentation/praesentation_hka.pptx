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9"/>
    <p:sldId id="268" r:id="rId8"/>
    <p:sldId id="269" r:id="rId7"/>
    <p:sldId id="270" r:id="rId6"/>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font" Target="fonts/Roboto-regular.fntdata"/><Relationship Id="rId22" Type="http://schemas.openxmlformats.org/officeDocument/2006/relationships/font" Target="fonts/Roboto-bold.fntdata"/><Relationship Id="rId23" Type="http://schemas.openxmlformats.org/officeDocument/2006/relationships/font" Target="fonts/Roboto-italic.fntdata"/><Relationship Id="rId24" Type="http://schemas.openxmlformats.org/officeDocument/2006/relationships/font" Target="fonts/Roboto-boldItalic.fntdata"/><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13 B, MessagePack (heute)</c:v>
                </c:pt>
              </c:strCache>
            </c:strRef>
          </c:tx>
          <c:spPr>
            <a:ln w="25400">
              <a:solidFill>
                <a:srgbClr val="158158"/>
              </a:solidFill>
            </a:ln>
          </c:spPr>
          <c:marker>
            <c:size val="5"/>
            <c:spPr>
              <a:solidFill>
                <a:srgbClr val="158158"/>
              </a:solidFill>
              <a:ln>
                <a:solidFill>
                  <a:srgbClr val="158158"/>
                </a:solidFill>
              </a:ln>
            </c:spPr>
          </c:marker>
          <c:cat>
            <c:strRef>
              <c:f>Sheet1!$A$2:$A$9</c:f>
              <c:strCache>
                <c:ptCount val="8"/>
                <c:pt idx="0">
                  <c:v>0</c:v>
                </c:pt>
                <c:pt idx="1">
                  <c:v>10</c:v>
                </c:pt>
                <c:pt idx="2">
                  <c:v>20</c:v>
                </c:pt>
                <c:pt idx="3">
                  <c:v>40</c:v>
                </c:pt>
                <c:pt idx="4">
                  <c:v>60</c:v>
                </c:pt>
                <c:pt idx="5">
                  <c:v>80</c:v>
                </c:pt>
                <c:pt idx="6">
                  <c:v>100</c:v>
                </c:pt>
                <c:pt idx="7">
                  <c:v>120</c:v>
                </c:pt>
              </c:strCache>
            </c:strRef>
          </c:cat>
          <c:val>
            <c:numRef>
              <c:f>Sheet1!$B$2:$B$9</c:f>
              <c:numCache>
                <c:formatCode>General</c:formatCode>
                <c:ptCount val="8"/>
                <c:pt idx="0">
                  <c:v>4</c:v>
                </c:pt>
                <c:pt idx="1">
                  <c:v>5</c:v>
                </c:pt>
                <c:pt idx="2">
                  <c:v>6</c:v>
                </c:pt>
                <c:pt idx="3">
                  <c:v>7</c:v>
                </c:pt>
                <c:pt idx="4">
                  <c:v>9</c:v>
                </c:pt>
                <c:pt idx="5">
                  <c:v>10</c:v>
                </c:pt>
                <c:pt idx="6">
                  <c:v>12</c:v>
                </c:pt>
                <c:pt idx="7">
                  <c:v>13</c:v>
                </c:pt>
              </c:numCache>
            </c:numRef>
          </c:val>
          <c:smooth val="0"/>
        </c:ser>
        <c:ser>
          <c:idx val="1"/>
          <c:order val="1"/>
          <c:tx>
            <c:strRef>
              <c:f>Sheet1!$C$1</c:f>
              <c:strCache>
                <c:ptCount val="1"/>
                <c:pt idx="0">
                  <c:v>13 B, JSON</c:v>
                </c:pt>
              </c:strCache>
            </c:strRef>
          </c:tx>
          <c:spPr>
            <a:ln w="25400">
              <a:solidFill>
                <a:srgbClr val="8A9696"/>
              </a:solidFill>
            </a:ln>
          </c:spPr>
          <c:marker>
            <c:size val="5"/>
            <c:spPr>
              <a:solidFill>
                <a:srgbClr val="8A9696"/>
              </a:solidFill>
              <a:ln>
                <a:solidFill>
                  <a:srgbClr val="8A9696"/>
                </a:solidFill>
              </a:ln>
            </c:spPr>
          </c:marker>
          <c:cat>
            <c:strRef>
              <c:f>Sheet1!$A$2:$A$9</c:f>
              <c:strCache>
                <c:ptCount val="8"/>
                <c:pt idx="0">
                  <c:v>0</c:v>
                </c:pt>
                <c:pt idx="1">
                  <c:v>10</c:v>
                </c:pt>
                <c:pt idx="2">
                  <c:v>20</c:v>
                </c:pt>
                <c:pt idx="3">
                  <c:v>40</c:v>
                </c:pt>
                <c:pt idx="4">
                  <c:v>60</c:v>
                </c:pt>
                <c:pt idx="5">
                  <c:v>80</c:v>
                </c:pt>
                <c:pt idx="6">
                  <c:v>100</c:v>
                </c:pt>
                <c:pt idx="7">
                  <c:v>120</c:v>
                </c:pt>
              </c:strCache>
            </c:strRef>
          </c:cat>
          <c:val>
            <c:numRef>
              <c:f>Sheet1!$C$2:$C$9</c:f>
              <c:numCache>
                <c:formatCode>General</c:formatCode>
                <c:ptCount val="8"/>
                <c:pt idx="0">
                  <c:v>6</c:v>
                </c:pt>
                <c:pt idx="1">
                  <c:v>7</c:v>
                </c:pt>
                <c:pt idx="2">
                  <c:v>7</c:v>
                </c:pt>
                <c:pt idx="3">
                  <c:v>9</c:v>
                </c:pt>
                <c:pt idx="4">
                  <c:v>10</c:v>
                </c:pt>
                <c:pt idx="5">
                  <c:v>12</c:v>
                </c:pt>
                <c:pt idx="6">
                  <c:v>14</c:v>
                </c:pt>
                <c:pt idx="7">
                  <c:v>15</c:v>
                </c:pt>
              </c:numCache>
            </c:numRef>
          </c:val>
          <c:smooth val="0"/>
        </c:ser>
        <c:ser>
          <c:idx val="2"/>
          <c:order val="2"/>
          <c:tx>
            <c:strRef>
              <c:f>Sheet1!$D$1</c:f>
              <c:strCache>
                <c:ptCount val="1"/>
                <c:pt idx="0">
                  <c:v>7 B, MessagePack</c:v>
                </c:pt>
              </c:strCache>
            </c:strRef>
          </c:tx>
          <c:spPr>
            <a:ln w="25400">
              <a:solidFill>
                <a:srgbClr val="058DC7"/>
              </a:solidFill>
            </a:ln>
          </c:spPr>
          <c:marker>
            <c:size val="5"/>
            <c:spPr>
              <a:solidFill>
                <a:srgbClr val="058DC7"/>
              </a:solidFill>
              <a:ln>
                <a:solidFill>
                  <a:srgbClr val="058DC7"/>
                </a:solidFill>
              </a:ln>
            </c:spPr>
          </c:marker>
          <c:cat>
            <c:strRef>
              <c:f>Sheet1!$A$2:$A$9</c:f>
              <c:strCache>
                <c:ptCount val="8"/>
                <c:pt idx="0">
                  <c:v>0</c:v>
                </c:pt>
                <c:pt idx="1">
                  <c:v>10</c:v>
                </c:pt>
                <c:pt idx="2">
                  <c:v>20</c:v>
                </c:pt>
                <c:pt idx="3">
                  <c:v>40</c:v>
                </c:pt>
                <c:pt idx="4">
                  <c:v>60</c:v>
                </c:pt>
                <c:pt idx="5">
                  <c:v>80</c:v>
                </c:pt>
                <c:pt idx="6">
                  <c:v>100</c:v>
                </c:pt>
                <c:pt idx="7">
                  <c:v>120</c:v>
                </c:pt>
              </c:strCache>
            </c:strRef>
          </c:cat>
          <c:val>
            <c:numRef>
              <c:f>Sheet1!$D$2:$D$9</c:f>
              <c:numCache>
                <c:formatCode>General</c:formatCode>
                <c:ptCount val="8"/>
                <c:pt idx="0">
                  <c:v>5</c:v>
                </c:pt>
                <c:pt idx="1">
                  <c:v>7</c:v>
                </c:pt>
                <c:pt idx="2">
                  <c:v>8</c:v>
                </c:pt>
                <c:pt idx="3">
                  <c:v>11</c:v>
                </c:pt>
                <c:pt idx="4">
                  <c:v>14</c:v>
                </c:pt>
                <c:pt idx="5">
                  <c:v>17</c:v>
                </c:pt>
                <c:pt idx="6">
                  <c:v>20</c:v>
                </c:pt>
                <c:pt idx="7">
                  <c:v>23</c:v>
                </c:pt>
              </c:numCache>
            </c:numRef>
          </c:val>
          <c:smooth val="0"/>
        </c:ser>
        <c:ser>
          <c:idx val="3"/>
          <c:order val="3"/>
          <c:tx>
            <c:strRef>
              <c:f>Sheet1!$E$1</c:f>
              <c:strCache>
                <c:ptCount val="1"/>
                <c:pt idx="0">
                  <c:v>7 B, JSON (erste Fassung)</c:v>
                </c:pt>
              </c:strCache>
            </c:strRef>
          </c:tx>
          <c:spPr>
            <a:ln w="25400">
              <a:solidFill>
                <a:srgbClr val="ED561B"/>
              </a:solidFill>
            </a:ln>
          </c:spPr>
          <c:marker>
            <c:size val="5"/>
            <c:spPr>
              <a:solidFill>
                <a:srgbClr val="ED561B"/>
              </a:solidFill>
              <a:ln>
                <a:solidFill>
                  <a:srgbClr val="ED561B"/>
                </a:solidFill>
              </a:ln>
            </c:spPr>
          </c:marker>
          <c:cat>
            <c:strRef>
              <c:f>Sheet1!$A$2:$A$9</c:f>
              <c:strCache>
                <c:ptCount val="8"/>
                <c:pt idx="0">
                  <c:v>0</c:v>
                </c:pt>
                <c:pt idx="1">
                  <c:v>10</c:v>
                </c:pt>
                <c:pt idx="2">
                  <c:v>20</c:v>
                </c:pt>
                <c:pt idx="3">
                  <c:v>40</c:v>
                </c:pt>
                <c:pt idx="4">
                  <c:v>60</c:v>
                </c:pt>
                <c:pt idx="5">
                  <c:v>80</c:v>
                </c:pt>
                <c:pt idx="6">
                  <c:v>100</c:v>
                </c:pt>
                <c:pt idx="7">
                  <c:v>120</c:v>
                </c:pt>
              </c:strCache>
            </c:strRef>
          </c:cat>
          <c:val>
            <c:numRef>
              <c:f>Sheet1!$E$2:$E$9</c:f>
              <c:numCache>
                <c:formatCode>General</c:formatCode>
                <c:ptCount val="8"/>
                <c:pt idx="0">
                  <c:v>10</c:v>
                </c:pt>
                <c:pt idx="1">
                  <c:v>11</c:v>
                </c:pt>
                <c:pt idx="2">
                  <c:v>12</c:v>
                </c:pt>
                <c:pt idx="3">
                  <c:v>15</c:v>
                </c:pt>
                <c:pt idx="4">
                  <c:v>18</c:v>
                </c:pt>
                <c:pt idx="5">
                  <c:v>21</c:v>
                </c:pt>
                <c:pt idx="6">
                  <c:v>24</c:v>
                </c:pt>
                <c:pt idx="7">
                  <c:v>27</c:v>
                </c:pt>
              </c:numCache>
            </c:numRef>
          </c:val>
          <c:smooth val="0"/>
        </c:ser>
        <c:marker val="1"/>
        <c:smooth val="0"/>
        <c:axId val="2118791784"/>
        <c:axId val="2140495176"/>
      </c:lineChart>
      <c:catAx>
        <c:axId val="2118791784"/>
        <c:scaling>
          <c:orientation val="minMax"/>
        </c:scaling>
        <c:delete val="0"/>
        <c:axPos val="b"/>
        <c:title>
          <c:tx>
            <c:rich>
              <a:bodyPr/>
              <a:lstStyle/>
              <a:p>
                <a:r>
                  <a:rPr sz="1000"/>
                  <a:t>Textlänge in Zeichen</a:t>
                </a:r>
              </a:p>
            </c:rich>
          </c:tx>
          <c:layout/>
          <c:overlay val="0"/>
        </c:title>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delete val="0"/>
        <c:axPos val="l"/>
        <c:majorGridlines>
          <c:spPr>
            <a:ln>
              <a:solidFill>
                <a:srgbClr val="E0E0E0"/>
              </a:solidFill>
            </a:ln>
          </c:spPr>
        </c:majorGridlines>
        <c:title>
          <c:tx>
            <c:rich>
              <a:bodyPr/>
              <a:lstStyle/>
              <a:p>
                <a:r>
                  <a:rPr sz="1000"/>
                  <a:t>Round Trips</a:t>
                </a:r>
              </a:p>
            </c:rich>
          </c:tx>
          <c:layout/>
          <c:overlay val="0"/>
        </c:title>
        <c:majorTickMark val="out"/>
        <c:minorTickMark val="none"/>
        <c:tickLblPos val="nextTo"/>
        <c:txPr>
          <a:bodyPr/>
          <a:lstStyle/>
          <a:p>
            <a:pPr>
              <a:defRPr sz="1000"/>
            </a:pPr>
          </a:p>
        </c:txPr>
        <c:crossAx val="2118791784"/>
        <c:crosses val="autoZero"/>
      </c:valAx>
    </c:plotArea>
    <c:legend>
      <c:legendPos val="b"/>
      <c:layout/>
      <c:overlay val="0"/>
      <c:txPr>
        <a:bodyPr/>
        <a:lstStyle/>
        <a:p>
          <a:pPr>
            <a:defRPr sz="1000">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Begrüßung. Thema in einem Satz: Wie bringt man ein Touch-Display an den SPIKE Prime Hub, obwohl die Verbindung dafür nicht gedacht ist? Kurz den Aufbau nennen: Problem, Architektur, Entwurf, Referenzimplementierung, Evaluation, Nutzung. (1 min)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Überblick über die sechs Teile. Schwerpunkt auf Entwurf und Referenzimplementierung.</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LEGO Education als niedrigschwelliger Einstieg. Der Wunsch nach Display und Touch. Der Hub ist geschlossen; Pybricks ersetzt die Firmware und erlaubt externe Geräte über LPF2/PUPRemote. (1,5 min)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Jede für sich wäre handhabbar, zusammen verstärken sie sich: Der Server kann nichts von sich aus senden, also Polling. Nachrichten passen nicht in ein Paket, also Fragmentierung. Kein Threading, also blockiert der Client. (1,5 min)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Zentrale Frage aus der Einleitung. Nicht ein einzelnes Display, sondern eine Softwareschicht, die auf andere Verbindungen derselben Klasse übertragbar ist. Drei Bewertungskriterien am Ende wieder aufgreifen. (1,5 min)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Sechs Anforderungen aus dem Anwendungsfall einer interaktiven Oberfläche, nicht aus dem Bus. K1–K3 betreffen den Inhalt, K4 und K5 die Bedingungen, K6 den Aufbau. K4 (100 ms nach Miller und Card) wird später der spannende Punkt. (2 min)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Bewusst handelsübliche Baugruppen: LMS-ESP32 am Sensorport, ILI9341-Display mit kapazitivem Touch, eigene Adapterplatine ohne aktive Bauteile (KiCad). Der ESP32 gibt sich dem Hub gegenüber als Ultraschallsensor aus und fordert die 8-V-Versorgung an. Hardware ist Träger, nicht Beitrag. (1 min)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Überleitung.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Kernidee: Alles, was vom Übertragungsweg abhängt, steckt in der untersten Schicht. Symmetrisch: Client = Hub ruft auf, Server = ESP32 führt aus. Streng geschichtet. (2 min)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Zu jeder Schicht: Aufgabe und was sie nach oben verbirgt. Transportschicht: Paketgröße. Kommunikationsschicht: der Rückkanal, ein Aufruf erscheint als synchroner Methodenaufruf. Objektmodell: Aufrufstransparenz. (2 min)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Interceptor: einziger Ansatzpunkt für den Übertragungsweg (angelehnt an POSA, aber hier wird ein Weg ausgetauscht, kein Dienst ergänzt). Dispatcher: Scope wählt den Empfänger. Stellvertreter und Adapter erfüllen dieselbe Schnittstelle, daraus folgt die Aufrufstransparenz. (2 min)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Aus Sicht der Anwendung synchron, intern anfragegetrieben. Kanal 1: Client sendet Pakete, Server bestätigt jedes. Kanal 2: Client fragt Ergebnis oder Ereignisse ab. Ereignisse folgen demselben Prinzip, daher hängt die zeitliche Auflösung am Abfragetakt. (2 min)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Erster Schwerpunkt. Jede Entscheidung mit ihrer Begründung zeigen. (ca. 10 min für den Abschnitt)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Der Client sendet einen Block und bekommt im selben Vorgang einen Block zurück. Ob Nutzlast, Bestätigung oder Anfrage, ist der Schnittstelle egal. Bewusst die Schnittmenge dessen, was alle Verbindungen der Klasse können. Beide Seiten erfüllen dieselbe Schnittstelle. (2 min)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Aus unabhängigen Blöcken wird eine Nachricht beliebiger Länge. Kennung: veraltete Antworten erkennen, denn direkt nach dem Senden wird gelesen. Position: Reihenfolge und Wiederholungen. Art: Nutzlast und Steuerinformationen laufen über denselben Kanal. Ende: sonst wartet der Empfänger bei exaktem Vielfachen auf einen Block, der nie kommt. Größen bewusst offen. (2 min)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Ohne Längenfeld ist man an textbasierte Formate gebunden, weil Füllbytes nur dort eindeutig erkennbar sind. Binäre Formate wie MessagePack oder CBOR enthalten Nullbytes. Kosten: jedes Header-Byte fehlt der Nutzlast; ein Byte weniger verschiebt alle Blockgrenzen. Erwartung: Rahmung wiegt schwerer als das Format, wird in der Evaluation geprüft. (2,5 min)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Zerlegung eindeutig: gleiche Position gibt gleichen Block, also idempotent. Vollständig, wenn jede Position von 0 bis n eingetroffen ist, n trägt die Endmarkierung. Abbruch wird an Position 0 einer neuen Nachricht erkannt, nicht an der Kennung. Entscheidung: unvollständige Nachricht verwerfen, weil nur eine Nachricht gleichzeitig unterwegs ist. Speicher: L_max = 2^b_pos · P. (2,5 min)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Drei Kriterien aus den bisherigen Abschnitten. Kompakt: Länge bestimmt die Blockzahl. Ohne Schema: Objekte und Methoden ändern sich während der Entwicklung, ein Schema würde einen Übersetzungsschritt einführen. Kleiner Decoder: läuft auf beiden Mikrocontrollern. (1,5 min)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Stop-and-Wait, weil ohnehin nie mehr als ein Block unterwegs ist; Fenster-Verfahren setzen mehrere Blöcke und Bestätigungen ohne Anfrage voraus. Obergrenzen für Wiederholungen und Abholen, sonst Stillstand. At-most-once: eine doppelt ausgeführte Änderung wäre nicht rückgängig zu machen, ein gescheiterter Aufruf ist wiederholbar. (2,5 min)</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Aufrufnachricht: Methodenkennung, Argumente in Parameterreihenfolge ohne Namen, Scope. Keine Typen, weil das Format schemafrei ist; die Vereinbarung ist die gemeinsame Schnittstelle. Zuordnung: Kennung aus dem Frame-Header (Abwägung zwischen doppelten Steuerinformationen und strenger Trennung). Verteilung analog zu REST-Routing. Rückkanal: Ergebnis kann nur bereitgehalten werden. (3 min)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Zweiter Schwerpunkt. An konkretem Code zeigen, wie der Entwurf abgebildet wurde und was die Laufzeit erzwungen hat. (ca. 12 min)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Client und Server laufen beide unter MicroPython, aber sehr verschieden. Gemeinsamer Code richtet sich nach der engeren Umgebung, also Pybricks. Der Hub nimmt nur einzelne Dateien an: der Bundler fasst alle Module zu pybricks_bundle.py zusammen. Rechts die Zuordnung der Module zu Schichten. (2 min)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Die Busanbindung wird vorgefunden. PUPRemote 1.6 setzt LPF2 um; der ESP32 gibt sich als Ultraschallsensor aus. Handshake bei 2400 Baud, danach 115200 Baud. PUPRemote hat eine eigene Aufrufsemantik, die nicht genutzt wird: nur ein Kommando xfer mit 16 Byte in beide Richtungen. Ein Austausch ist remote.call: schreiben, dann sofort lesen; ist der ESP noch nicht fertig, kommt die vorige Antwort. (2,5 min)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Blockgröße 16 fest. Header drei Byte: Kennung 8 Bit, Position 8 Bit, Art 4 Bit und Länge 4 Bit teilen sich ein Byte. Aus P = 13 folgt b = ceil(log2 14) = 4. Gültig bis Nutzlast 15 Byte, also MTU höchstens 18. Position 0xFF reserviert: 255 Positionen · 13 Byte = 3315 Byte maximale Nachricht, zugleich Puffergrenze (K5). (2,5 min)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Acht Arten. DATA und DATA_LAST tragen Nutzlast, ACK und NACK bestätigen, READY und NEXT sind die Abfragen des Rückkanals, DONE ist die Antwort auf READY, ERR ist die Fehlermeldung. (1 min)</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frame_at berechnet den Frame direkt aus dem Index, ohne Fortschritt: gleiche Position gleicher Frame. Ein früherer Generator wurde verworfen, weil er Wiederholungen erschwerte. Rückkanal nutzt collect_frame (sammelt und sortiert), der Hinweg append_frame (spart Speicher, setzt Reihenfolge voraus). (2 min)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Eine einzige Zuweisung legt das Format fest. MessagePack-Teilmenge: Wahrheitswerte, Ganzzahlen bis 16 Bit, Strings, Bytes, Listen, Maps; keine Floats. 16 Bit wegen 2^30 auf dem Hub. JSON war die erste Umsetzung (lesbar) und bleibt für Mitschnitte erhalten. Der Wechsel ist nur möglich, weil die Rahmung die Länge mitführt. (2 min)</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Drei Ausprägungen der Nutzlast mit einbuchstabigen Schlüsseln. Methodenkennung: djb2 auf 16 Bit begrenzt, nicht das eingebaute hash (CPython randomisiert, MicroPython rechnet anders). Maskierung hält Zwischenwerte unter 2^30, ein 32-Bit-Hash wie FNV würde die Grenze des Hubs reißen. 16 Bit: drei Byte statt 13 für den Namen create_label; 8 Bit hätten bei zehn Methoden etwa 16 % Kollisionswahrscheinlichkeit. Kollision wird beim Start erkannt. (3 min)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Dispatcher-Pool: ein Dispatcher je Scope, doppelte Belegung wirft beim Start eine Ausnahme. Rückkanal: READY fragt, ob das Ergebnis da ist, DONE oder NACK; NEXT holt Frame für Frame über die Position, wiederholte Anfrage liefert denselben Frame. Konstanten begrenzen den Speicher. Ereignisse: je Objekt zehn, ältestes wird bei Überlauf verworfen und gezählt. (3 min)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Je Objekttyp eine Basisklasse in display/protocol. Client: Stellvertreter hält ein RemoteObject (Referenz wird jedem Aufruf vorangestellt), erbt nicht davon, weil Pybricks keine Mehrfachvererbung hat. Server: Adapter erbt zusätzlich von RPCDispatcher und ist über seinen Scope erreichbar. Ein Button besteht auf dem Server aus zwei Objekten. (2 min)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Referenz = 16 Bit: untere 10 Bit Slot, obere 6 Bit Generation, die bei jeder Freigabe steigt (Generational Handle). Slot speichert Objekt, Generation, Art, Parent. Zwei Prüfungen gegen veraltete Referenzen: Server in der Registratur, Client über eine Session, die bei clear() und Verbindungsabbruch endet. Fehlerart bestimmt die Ausnahme (StaleReferenceError, WrongKindError, RemoteError). Restrisiko: Generation wiederholt sich nach 64 Freigaben. (3 min)</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LVGL zeichnet in eigenem Takt (40 ms gemessen); ein Adapter ändert nur den Zustand. Ereignisse: on_event legt sie im Puffer des Objekts ab. Zwei Fragen in einem Aufruf: aktueller Zustand und was seit der letzten Abfrage geschah. Ohne Trennung ginge eine kurze Berührung verloren. Bindings: Ereignis auf einem Objekt löst Aktion auf einem anderen aus, direkt auf dem Server, ohne Übertragung. Aktionen bewusst klein und ohne Logik. (3 min)</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Beispiel counter_label.set_text("Counter: 42"). Stellvertreter prüft Session, übergibt an call(); Referenz wird vorangestellt. MessagePack kodiert 32 Byte, bei 13 Byte Nutzlast drei Frames. Jeder Frame ein Round Trip. Der letzte Frame wird bestätigt, bevor ausgeführt wird; die Ausführung läuft als eigener Task. Danach READY, dann NEXT für Position 0. Fünf Round Trips, drei tragen Nutzlast, zwei nur Steuerinformationen. (3 min)</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Automat für den Client: Senden, Warten, Abholen, Fehler. Jeder der drei Zustände hat eine eigene Obergrenze; danach Fehler und Ausnahme in der Anwendung. Zwischen Senden und DONE ist die Anwendung blockiert, es ist nur ein Aufruf unterwegs. (1,5 min)</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Server je Nachrichtenkennung. Zwei Kanten sind die eigentlichen Zusicherungen: bekannte Position wird bestätigt, aber nicht erneut abgelegt; wiederholter letzter Frame wird bestätigt, ohne ein zweites Mal auszuführen. Ergibt At-most-once. (1,5 min)</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Client: keine Nebenläufigkeit, ein Aufruf blockiert, dafür keine Sperren. Server: drei Tasks in einer uasyncio-Schleife. Frühere Version: Aufrufe in eigenem Thread. Zwei Fehler: Thread-Stack wird vom Heap genommen, den LVGL fast aufbraucht; LVGL ist nicht reentrant, der Stack lief im Touch-Rückruf über. Lösung: gemeinsame Ereignisschleife. Preis: während der Ausführung wird nichts beantwortet und nicht gezeichnet. (2,5 min)</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Fehler werden in der Schicht behandelt, in der sie entstehen. In der Transportschicht sind Fehler der Normalfall: der Client liest direkt nach dem Schreiben und bekommt oft die Antwort auf die vorige Anfrage. Server: jede Ausnahme wird abgefangen und als ErrorPayload abgelegt. Der Touch-Rückruf von LVGL darf nie eine Ausnahme weitergeben. (2 min)</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Die Messungen bestätigen die Annahme, auf der der Entwurf beruht. (ca. 5 min)</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Funktional: Beispielprogramm nutzt alle Bestandteile des Objektmodells, 640 aufeinanderfolgende Aufrufe ohne Wiederholung und Fehler. Die Testumgebung (CPython, gleiche Adapter und Interceptoren) belegt, was am echten Aufbau schwer zu zeigen ist: zweite Busanbindung für K6, künstlich erzeugte Fehler, Ereignisüberlauf. Grenze: kein zweiter realer Bus. (2 min)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Vier Konfigurationen: 13 oder 7 Byte Nutzlast und MessagePack oder JSON. 20 Aufrufe je Textlänge, Median. Round Trips = N + 2. Ein Round Trip kostet in jeder Konfiguration 114,2 ms (Standardabweichung 0,3 ms über 640 Aufrufe); die Dauer ist das Produkt aus beidem. Faktoren gegenüber heute: 7 Byte 1,59-fach, JSON 1,21-fach, beides 2,09-fach. Rahmung wiegt schwerer als Format. (3 min)</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Vergleich der beiden Wege. Binding: Server führt die Reaktion selbst aus, 13 ms von erkannter Berührung bis fertigem Bild, mit Erkennung im Mittel 33 ms, höchstens 57 ms. Über den Client: zwei Aufrufe mit je 5 Round Trips = 1161 ms, dazu Warten auf die nächste Abfrage, im Mittel etwa 1490 ms. Abfrage kostet jetzt 5 statt 4 Round Trips, weil die Antwort Zustand, Drucke und Verworfene trägt. Test mit 20 kurzen Tippern je Pause: keiner verloren, K3 erfüllt. (3 min)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Fünf von sechs erfüllt bzw. teilweise: K4 nur über Bindings, K5 teilweise, da auf dem Server nicht gemessen. Ressourcen auf dem Hub: eine Oberfläche aus zwei Screens, zwei Labels, zwei Buttons kostet 144 Byte (16272 gegenüber 16128), unabhängig von Format und Frame-Größe. Gebündelter Hub-Quelltext 68 KB. (2 min)</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Überleitung zum Punkt, den der Professor ausdrücklich wollte: wie sieht die Nutzung für zukünftige Projekte aus?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WICHTIG: Schritte gegen das Repo prüfen und ergänzen (genaue Befehle, Versionen, Flash-Werkzeuge), bevor die Folie gezeigt wird. Ziel: zeigen, dass jemand anderes das Display in wenigen Schritten nutzen kann. Live-Demo hier möglich. (3 min)</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Zwei Screens, zwei Buttons, Bindings: nach der Deklaration läuft der Screenwechsel lokal auf dem Display, ohne weiteren Aufwand für den Client. Zeigen, wie wenig Protokollwissen nötig ist. Ggf. Live-Demo. (2 min)</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Größte Einschränkung: der Client blockiert während eines Aufrufs (Motorregelung!). Transparenz ist syntaktisch, nicht zeitlich. Kein Typcheck vor der Laufzeit, schemafreies Format. (2 min)</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Erweiterungen: Ergebnis mit der Bestätigung (5 auf 3 Round Trips, etwa 340 ms), gemeinsamer Ereignispuffer, async/await auf dem Hub, integrierte Platine, weitere Geräteklassen. Übertragbarkeit: alles Wegabhängige liegt unter der Interceptor-Schnittstelle; I²C, Modbus RTU und BLE wären denkbar. (2 min)</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Drei Kernaussagen. Dann Fragen. (1,5 min)</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Quellenfolie als Backup. Vollständige Literatur in der Arbeit.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pic>
        <p:nvPicPr>
          <p:cNvPr id="13" name="Google Shape;13;p2"/>
          <p:cNvPicPr preferRelativeResize="0"/>
          <p:nvPr/>
        </p:nvPicPr>
        <p:blipFill>
          <a:blip r:embed="rId2">
            <a:alphaModFix/>
          </a:blip>
          <a:stretch>
            <a:fillRect/>
          </a:stretch>
        </p:blipFill>
        <p:spPr>
          <a:xfrm>
            <a:off x="0" y="0"/>
            <a:ext cx="3431875" cy="792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pic>
        <p:nvPicPr>
          <p:cNvPr id="21" name="Google Shape;21;p4"/>
          <p:cNvPicPr preferRelativeResize="0"/>
          <p:nvPr/>
        </p:nvPicPr>
        <p:blipFill>
          <a:blip r:embed="rId2">
            <a:alphaModFix/>
          </a:blip>
          <a:stretch>
            <a:fillRect/>
          </a:stretch>
        </p:blipFill>
        <p:spPr>
          <a:xfrm>
            <a:off x="8566544" y="3431473"/>
            <a:ext cx="548700" cy="12803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chart" Target="../charts/char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0" i="0">
                <a:solidFill>
                  <a:srgbClr val="0F2E2E"/>
                </a:solidFill>
                <a:latin typeface="Calibri"/>
              </a:rPr>
              <a:t>Entfernte Objekte über einen 16-Byte-Bus</a:t>
            </a:r>
          </a:p>
        </p:txBody>
      </p:sp>
      <p:sp>
        <p:nvSpPr>
          <p:cNvPr id="3" name="Subtitle 2"/>
          <p:cNvSpPr>
            <a:spLocks noGrp="1"/>
          </p:cNvSpPr>
          <p:nvPr>
            <p:ph type="subTitle" idx="1"/>
          </p:nvPr>
        </p:nvSpPr>
        <p:spPr/>
        <p:txBody>
          <a:bodyPr/>
          <a:lstStyle/>
          <a:p>
            <a:r>
              <a:rPr sz="2000" b="0" i="0">
                <a:solidFill>
                  <a:srgbClr val="5B6B6B"/>
                </a:solidFill>
                <a:latin typeface="Calibri"/>
              </a:rPr>
              <a:t>Eine Middleware für ein Touchscreen-Display am LEGO SPIKE Prime Hub</a:t>
            </a:r>
          </a:p>
        </p:txBody>
      </p:sp>
      <p:sp>
        <p:nvSpPr>
          <p:cNvPr id="4" name="TextBox 3"/>
          <p:cNvSpPr txBox="1"/>
          <p:nvPr/>
        </p:nvSpPr>
        <p:spPr>
          <a:xfrm>
            <a:off x="143250" y="4528625"/>
            <a:ext cx="8857500" cy="397500"/>
          </a:xfrm>
          <a:prstGeom prst="rect">
            <a:avLst/>
          </a:prstGeom>
          <a:noFill/>
        </p:spPr>
        <p:txBody>
          <a:bodyPr wrap="none">
            <a:spAutoFit/>
          </a:bodyPr>
          <a:lstStyle/>
          <a:p>
            <a:r>
              <a:rPr sz="1600" b="0" i="1">
                <a:solidFill>
                  <a:srgbClr val="5B6B6B"/>
                </a:solidFill>
                <a:latin typeface="Calibri"/>
              </a:rPr>
              <a:t>[Name]            [Datum]</a:t>
            </a:r>
          </a:p>
        </p:txBody>
      </p:sp>
      <p:sp>
        <p:nvSpPr>
          <p:cNvPr id="5" name="TextBox 4"/>
          <p:cNvSpPr txBox="1"/>
          <p:nvPr/>
        </p:nvSpPr>
        <p:spPr>
          <a:xfrm>
            <a:off x="5418100" y="175675"/>
            <a:ext cx="3578100" cy="480900"/>
          </a:xfrm>
          <a:prstGeom prst="rect">
            <a:avLst/>
          </a:prstGeom>
          <a:noFill/>
        </p:spPr>
        <p:txBody>
          <a:bodyPr wrap="none">
            <a:spAutoFit/>
          </a:bodyPr>
          <a:lstStyle/>
          <a:p>
            <a:pPr algn="r"/>
            <a:r>
              <a:rPr sz="1800" b="0" i="0">
                <a:solidFill>
                  <a:srgbClr val="5B6B6B"/>
                </a:solidFill>
                <a:latin typeface="Calibri"/>
              </a:rPr>
              <a:t>Projektarbeit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Agenda</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Problem und Anforderungen</a:t>
            </a:r>
          </a:p>
          <a:p>
            <a:pPr marL="457200" indent="0">
              <a:spcBef>
                <a:spcPts val="100"/>
              </a:spcBef>
              <a:buNone/>
            </a:pPr>
            <a:r>
              <a:rPr sz="1200" b="0" i="0">
                <a:solidFill>
                  <a:srgbClr val="5B6B6B"/>
                </a:solidFill>
                <a:latin typeface="Calibri"/>
              </a:rPr>
              <a:t>Ausgangslage, Einschränkungen, Ziel, K1–K6</a:t>
            </a:r>
          </a:p>
          <a:p>
            <a:pPr marL="457200" indent="-330200">
              <a:spcBef>
                <a:spcPts val="900"/>
              </a:spcBef>
              <a:buClr>
                <a:srgbClr val="0F2E2E"/>
              </a:buClr>
              <a:buSzPts val="1400"/>
              <a:buFont typeface="Calibri"/>
              <a:buChar char="●"/>
            </a:pPr>
            <a:r>
              <a:rPr sz="1400" b="1" i="0">
                <a:solidFill>
                  <a:srgbClr val="0F2E2E"/>
                </a:solidFill>
                <a:latin typeface="Calibri"/>
              </a:rPr>
              <a:t>Architektur</a:t>
            </a:r>
          </a:p>
          <a:p>
            <a:pPr marL="457200" indent="0">
              <a:spcBef>
                <a:spcPts val="100"/>
              </a:spcBef>
              <a:buNone/>
            </a:pPr>
            <a:r>
              <a:rPr sz="1200" b="0" i="0">
                <a:solidFill>
                  <a:srgbClr val="5B6B6B"/>
                </a:solidFill>
                <a:latin typeface="Calibri"/>
              </a:rPr>
              <a:t>Schichten, Rollen, Kommunikationsmodell</a:t>
            </a:r>
          </a:p>
          <a:p>
            <a:pPr marL="457200" indent="-330200">
              <a:spcBef>
                <a:spcPts val="900"/>
              </a:spcBef>
              <a:buClr>
                <a:srgbClr val="0F2E2E"/>
              </a:buClr>
              <a:buSzPts val="1400"/>
              <a:buFont typeface="Calibri"/>
              <a:buChar char="●"/>
            </a:pPr>
            <a:r>
              <a:rPr sz="1400" b="1" i="0">
                <a:solidFill>
                  <a:srgbClr val="0F2E2E"/>
                </a:solidFill>
                <a:latin typeface="Calibri"/>
              </a:rPr>
              <a:t>Entwurf</a:t>
            </a:r>
          </a:p>
          <a:p>
            <a:pPr marL="457200" indent="0">
              <a:spcBef>
                <a:spcPts val="100"/>
              </a:spcBef>
              <a:buNone/>
            </a:pPr>
            <a:r>
              <a:rPr sz="1200" b="0" i="0">
                <a:solidFill>
                  <a:srgbClr val="5B6B6B"/>
                </a:solidFill>
                <a:latin typeface="Calibri"/>
              </a:rPr>
              <a:t>Transportschicht und Kommunikationsschicht</a:t>
            </a:r>
          </a:p>
          <a:p>
            <a:pPr marL="457200" indent="-330200">
              <a:spcBef>
                <a:spcPts val="900"/>
              </a:spcBef>
              <a:buClr>
                <a:srgbClr val="0F2E2E"/>
              </a:buClr>
              <a:buSzPts val="1400"/>
              <a:buFont typeface="Calibri"/>
              <a:buChar char="●"/>
            </a:pPr>
            <a:r>
              <a:rPr sz="1400" b="1" i="0">
                <a:solidFill>
                  <a:srgbClr val="0F2E2E"/>
                </a:solidFill>
                <a:latin typeface="Calibri"/>
              </a:rPr>
              <a:t>Referenzimplementierung</a:t>
            </a:r>
          </a:p>
          <a:p>
            <a:pPr marL="457200" indent="0">
              <a:spcBef>
                <a:spcPts val="100"/>
              </a:spcBef>
              <a:buNone/>
            </a:pPr>
            <a:r>
              <a:rPr sz="1200" b="0" i="0">
                <a:solidFill>
                  <a:srgbClr val="5B6B6B"/>
                </a:solidFill>
                <a:latin typeface="Calibri"/>
              </a:rPr>
              <a:t>Bus, Frame, Codec, Objektmodell, Anzeige, Ablauf</a:t>
            </a:r>
          </a:p>
          <a:p>
            <a:pPr marL="457200" indent="-330200">
              <a:spcBef>
                <a:spcPts val="900"/>
              </a:spcBef>
              <a:buClr>
                <a:srgbClr val="0F2E2E"/>
              </a:buClr>
              <a:buSzPts val="1400"/>
              <a:buFont typeface="Calibri"/>
              <a:buChar char="●"/>
            </a:pPr>
            <a:r>
              <a:rPr sz="1400" b="1" i="0">
                <a:solidFill>
                  <a:srgbClr val="0F2E2E"/>
                </a:solidFill>
                <a:latin typeface="Calibri"/>
              </a:rPr>
              <a:t>Evaluation</a:t>
            </a:r>
          </a:p>
          <a:p>
            <a:pPr marL="457200" indent="0">
              <a:spcBef>
                <a:spcPts val="100"/>
              </a:spcBef>
              <a:buNone/>
            </a:pPr>
            <a:r>
              <a:rPr sz="1200" b="0" i="0">
                <a:solidFill>
                  <a:srgbClr val="5B6B6B"/>
                </a:solidFill>
                <a:latin typeface="Calibri"/>
              </a:rPr>
              <a:t>Funktion, Übertragungsaufwand, Reaktionszeit</a:t>
            </a:r>
          </a:p>
          <a:p>
            <a:pPr marL="457200" indent="-330200">
              <a:spcBef>
                <a:spcPts val="900"/>
              </a:spcBef>
              <a:buClr>
                <a:srgbClr val="0F2E2E"/>
              </a:buClr>
              <a:buSzPts val="1400"/>
              <a:buFont typeface="Calibri"/>
              <a:buChar char="●"/>
            </a:pPr>
            <a:r>
              <a:rPr sz="1400" b="1" i="0">
                <a:solidFill>
                  <a:srgbClr val="0F2E2E"/>
                </a:solidFill>
                <a:latin typeface="Calibri"/>
              </a:rPr>
              <a:t>Nutzung und Ausblick</a:t>
            </a:r>
          </a:p>
          <a:p>
            <a:pPr marL="457200" indent="0">
              <a:spcBef>
                <a:spcPts val="100"/>
              </a:spcBef>
              <a:buNone/>
            </a:pPr>
            <a:r>
              <a:rPr sz="1200" b="0" i="0">
                <a:solidFill>
                  <a:srgbClr val="5B6B6B"/>
                </a:solidFill>
                <a:latin typeface="Calibri"/>
              </a:rPr>
              <a:t>Display in zukünftigen Projekten verwenden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Ausgangslage</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600" b="1" i="0">
                <a:solidFill>
                  <a:srgbClr val="0F2E2E"/>
                </a:solidFill>
                <a:latin typeface="Calibri"/>
              </a:rPr>
              <a:t>SPIKE Prime Hub</a:t>
            </a:r>
          </a:p>
          <a:p>
            <a:pPr marL="457200" indent="0">
              <a:spcBef>
                <a:spcPts val="100"/>
              </a:spcBef>
              <a:buNone/>
            </a:pPr>
            <a:r>
              <a:rPr sz="1600" b="0" i="0">
                <a:solidFill>
                  <a:srgbClr val="5B6B6B"/>
                </a:solidFill>
                <a:latin typeface="Calibri"/>
              </a:rPr>
              <a:t>Lernplattform für Programmierung und Robotik, läuft mit Pybricks (reduziertes MicroPython).</a:t>
            </a:r>
          </a:p>
          <a:p>
            <a:pPr marL="457200" indent="-330200">
              <a:spcBef>
                <a:spcPts val="900"/>
              </a:spcBef>
              <a:buClr>
                <a:srgbClr val="0F2E2E"/>
              </a:buClr>
              <a:buSzPts val="1400"/>
              <a:buFont typeface="Calibri"/>
              <a:buChar char="●"/>
            </a:pPr>
            <a:r>
              <a:rPr sz="1600" b="1" i="0">
                <a:solidFill>
                  <a:srgbClr val="0F2E2E"/>
                </a:solidFill>
                <a:latin typeface="Calibri"/>
              </a:rPr>
              <a:t>Wunsch</a:t>
            </a:r>
          </a:p>
          <a:p>
            <a:pPr marL="457200" indent="0">
              <a:spcBef>
                <a:spcPts val="100"/>
              </a:spcBef>
              <a:buNone/>
            </a:pPr>
            <a:r>
              <a:rPr sz="1600" b="0" i="0">
                <a:solidFill>
                  <a:srgbClr val="5B6B6B"/>
                </a:solidFill>
                <a:latin typeface="Calibri"/>
              </a:rPr>
              <a:t>Touch-Display für Anzeige und Bedienung direkt am Roboter, ohne Rechner.</a:t>
            </a:r>
          </a:p>
          <a:p>
            <a:pPr marL="457200" indent="-330200">
              <a:spcBef>
                <a:spcPts val="900"/>
              </a:spcBef>
              <a:buClr>
                <a:srgbClr val="0F2E2E"/>
              </a:buClr>
              <a:buSzPts val="1400"/>
              <a:buFont typeface="Calibri"/>
              <a:buChar char="●"/>
            </a:pPr>
            <a:r>
              <a:rPr sz="1600" b="1" i="0">
                <a:solidFill>
                  <a:srgbClr val="0F2E2E"/>
                </a:solidFill>
                <a:latin typeface="Calibri"/>
              </a:rPr>
              <a:t>Hindernis</a:t>
            </a:r>
          </a:p>
          <a:p>
            <a:pPr marL="457200" indent="0">
              <a:spcBef>
                <a:spcPts val="100"/>
              </a:spcBef>
              <a:buNone/>
            </a:pPr>
            <a:r>
              <a:rPr sz="1600" b="0" i="0">
                <a:solidFill>
                  <a:srgbClr val="5B6B6B"/>
                </a:solidFill>
                <a:latin typeface="Calibri"/>
              </a:rPr>
              <a:t>Nur LED-Matrix und Tasten. Erweiterungen sind nur über die Sensorports möglich, keine offenen Schnittstellen wie SPI oder I²C.</a:t>
            </a:r>
          </a:p>
          <a:p>
            <a:pPr marL="457200" indent="-330200">
              <a:spcBef>
                <a:spcPts val="900"/>
              </a:spcBef>
              <a:buClr>
                <a:srgbClr val="0F2E2E"/>
              </a:buClr>
              <a:buSzPts val="1400"/>
              <a:buFont typeface="Calibri"/>
              <a:buChar char="●"/>
            </a:pPr>
            <a:r>
              <a:rPr sz="1600" b="1" i="0">
                <a:solidFill>
                  <a:srgbClr val="0F2E2E"/>
                </a:solidFill>
                <a:latin typeface="Calibri"/>
              </a:rPr>
              <a:t>Leitfrage</a:t>
            </a:r>
          </a:p>
          <a:p>
            <a:pPr marL="457200" indent="0">
              <a:spcBef>
                <a:spcPts val="100"/>
              </a:spcBef>
              <a:buNone/>
            </a:pPr>
            <a:r>
              <a:rPr sz="1600" b="0" i="0">
                <a:solidFill>
                  <a:srgbClr val="5B6B6B"/>
                </a:solidFill>
                <a:latin typeface="Calibri"/>
              </a:rPr>
              <a:t>Wie bindet man Peripherie über eine Verbindung an, die dafür nur eingeschränkt geeignet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Problemstellung - drei Einschränkungen zugleich</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600" b="1" i="0">
                <a:solidFill>
                  <a:srgbClr val="0F2E2E"/>
                </a:solidFill>
                <a:latin typeface="Calibri"/>
              </a:rPr>
              <a:t>Anfragegetrieben</a:t>
            </a:r>
          </a:p>
          <a:p>
            <a:pPr marL="457200" indent="0">
              <a:spcBef>
                <a:spcPts val="100"/>
              </a:spcBef>
              <a:buNone/>
            </a:pPr>
            <a:r>
              <a:rPr sz="1600" b="0" i="0">
                <a:solidFill>
                  <a:srgbClr val="5B6B6B"/>
                </a:solidFill>
                <a:latin typeface="Calibri"/>
              </a:rPr>
              <a:t>Nur der Hub stößt Übertragungen an, das Display kann ausschließlich antworten.</a:t>
            </a:r>
          </a:p>
          <a:p>
            <a:pPr marL="457200" indent="-330200">
              <a:spcBef>
                <a:spcPts val="900"/>
              </a:spcBef>
              <a:buClr>
                <a:srgbClr val="0F2E2E"/>
              </a:buClr>
              <a:buSzPts val="1400"/>
              <a:buFont typeface="Calibri"/>
              <a:buChar char="●"/>
            </a:pPr>
            <a:r>
              <a:rPr sz="1600" b="1" i="0">
                <a:solidFill>
                  <a:srgbClr val="0F2E2E"/>
                </a:solidFill>
                <a:latin typeface="Calibri"/>
              </a:rPr>
              <a:t>16 Byte je Paket</a:t>
            </a:r>
          </a:p>
          <a:p>
            <a:pPr marL="457200" indent="0">
              <a:spcBef>
                <a:spcPts val="100"/>
              </a:spcBef>
              <a:buNone/>
            </a:pPr>
            <a:r>
              <a:rPr sz="1600" b="0" i="0">
                <a:solidFill>
                  <a:srgbClr val="5B6B6B"/>
                </a:solidFill>
                <a:latin typeface="Calibri"/>
              </a:rPr>
              <a:t>Feste, sehr kleine Blockgröße. Übliche Nachrichten müssen zerlegt werden.</a:t>
            </a:r>
          </a:p>
          <a:p>
            <a:pPr marL="457200" indent="-330200">
              <a:spcBef>
                <a:spcPts val="900"/>
              </a:spcBef>
              <a:buClr>
                <a:srgbClr val="0F2E2E"/>
              </a:buClr>
              <a:buSzPts val="1400"/>
              <a:buFont typeface="Calibri"/>
              <a:buChar char="●"/>
            </a:pPr>
            <a:r>
              <a:rPr sz="1600" b="1" i="0">
                <a:solidFill>
                  <a:srgbClr val="0F2E2E"/>
                </a:solidFill>
                <a:latin typeface="Calibri"/>
              </a:rPr>
              <a:t>Beschränkte Laufzeit</a:t>
            </a:r>
          </a:p>
          <a:p>
            <a:pPr marL="457200" indent="0">
              <a:spcBef>
                <a:spcPts val="100"/>
              </a:spcBef>
              <a:buNone/>
            </a:pPr>
            <a:r>
              <a:rPr sz="1600" b="0" i="0">
                <a:solidFill>
                  <a:srgbClr val="5B6B6B"/>
                </a:solidFill>
                <a:latin typeface="Calibri"/>
              </a:rPr>
              <a:t>Pybricks: keine Threads, kein Netzwerkstack, Ganzzahlen nur bis 2³⁰−1.</a:t>
            </a:r>
          </a:p>
          <a:p>
            <a:pPr marL="0" indent="0">
              <a:spcBef>
                <a:spcPts val="900"/>
              </a:spcBef>
              <a:buNone/>
            </a:pPr>
            <a:r>
              <a:rPr sz="1600" b="0" i="1">
                <a:solidFill>
                  <a:srgbClr val="5B6B6B"/>
                </a:solidFill>
                <a:latin typeface="Calibri"/>
              </a:rPr>
              <a:t>Interaktive Oberflächen brauchen das Gegenteil: strukturierte Daten und schnelle Rückmeldung.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Zielsetzung</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Forschungsfrage</a:t>
            </a:r>
          </a:p>
          <a:p>
            <a:pPr marL="457200" indent="0">
              <a:spcBef>
                <a:spcPts val="100"/>
              </a:spcBef>
              <a:buNone/>
            </a:pPr>
            <a:r>
              <a:rPr sz="1500" b="0" i="0">
                <a:solidFill>
                  <a:srgbClr val="5B6B6B"/>
                </a:solidFill>
                <a:latin typeface="Calibri"/>
              </a:rPr>
              <a:t>Wie lässt sich eine Middleware entwerfen, die entfernte Objekte über eine anfragegetriebene Verbindung mit sehr kleiner Paketgröße auf beschränkten Laufzeitumgebungen transparent nutzbar macht?</a:t>
            </a:r>
          </a:p>
          <a:p>
            <a:pPr marL="457200" indent="-330200">
              <a:spcBef>
                <a:spcPts val="900"/>
              </a:spcBef>
              <a:buClr>
                <a:srgbClr val="0F2E2E"/>
              </a:buClr>
              <a:buSzPts val="1400"/>
              <a:buFont typeface="Calibri"/>
              <a:buChar char="●"/>
            </a:pPr>
            <a:r>
              <a:rPr sz="1500" b="1" i="0">
                <a:solidFill>
                  <a:srgbClr val="0F2E2E"/>
                </a:solidFill>
                <a:latin typeface="Calibri"/>
              </a:rPr>
              <a:t>Entwurf</a:t>
            </a:r>
          </a:p>
          <a:p>
            <a:pPr marL="457200" indent="0">
              <a:spcBef>
                <a:spcPts val="100"/>
              </a:spcBef>
              <a:buNone/>
            </a:pPr>
            <a:r>
              <a:rPr sz="1500" b="0" i="0">
                <a:solidFill>
                  <a:srgbClr val="5B6B6B"/>
                </a:solidFill>
                <a:latin typeface="Calibri"/>
              </a:rPr>
              <a:t>Einschränkungen auf wenige Schichten begrenzen, vom Übertragungsweg lösen.</a:t>
            </a:r>
          </a:p>
          <a:p>
            <a:pPr marL="457200" indent="-330200">
              <a:spcBef>
                <a:spcPts val="900"/>
              </a:spcBef>
              <a:buClr>
                <a:srgbClr val="0F2E2E"/>
              </a:buClr>
              <a:buSzPts val="1400"/>
              <a:buFont typeface="Calibri"/>
              <a:buChar char="●"/>
            </a:pPr>
            <a:r>
              <a:rPr sz="1500" b="1" i="0">
                <a:solidFill>
                  <a:srgbClr val="0F2E2E"/>
                </a:solidFill>
                <a:latin typeface="Calibri"/>
              </a:rPr>
              <a:t>Umsetzung</a:t>
            </a:r>
          </a:p>
          <a:p>
            <a:pPr marL="457200" indent="0">
              <a:spcBef>
                <a:spcPts val="100"/>
              </a:spcBef>
              <a:buNone/>
            </a:pPr>
            <a:r>
              <a:rPr sz="1500" b="0" i="0">
                <a:solidFill>
                  <a:srgbClr val="5B6B6B"/>
                </a:solidFill>
                <a:latin typeface="Calibri"/>
              </a:rPr>
              <a:t>Referenzimplementierung: Touch-Display am SPIKE Prime Hub.</a:t>
            </a:r>
          </a:p>
          <a:p>
            <a:pPr marL="457200" indent="-330200">
              <a:spcBef>
                <a:spcPts val="900"/>
              </a:spcBef>
              <a:buClr>
                <a:srgbClr val="0F2E2E"/>
              </a:buClr>
              <a:buSzPts val="1400"/>
              <a:buFont typeface="Calibri"/>
              <a:buChar char="●"/>
            </a:pPr>
            <a:r>
              <a:rPr sz="1500" b="1" i="0">
                <a:solidFill>
                  <a:srgbClr val="0F2E2E"/>
                </a:solidFill>
                <a:latin typeface="Calibri"/>
              </a:rPr>
              <a:t>Bewertung</a:t>
            </a:r>
          </a:p>
          <a:p>
            <a:pPr marL="457200" indent="0">
              <a:spcBef>
                <a:spcPts val="100"/>
              </a:spcBef>
              <a:buNone/>
            </a:pPr>
            <a:r>
              <a:rPr sz="1500" b="0" i="0">
                <a:solidFill>
                  <a:srgbClr val="5B6B6B"/>
                </a:solidFill>
                <a:latin typeface="Calibri"/>
              </a:rPr>
              <a:t>Funktionaler Nachweis, Übertragungsaufwand je Aufruf, Ressourcenverbrauch.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Anforderungen an die Kommunikation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K1 - Strukturierte Nachrichten unbestimmter Länge</a:t>
            </a:r>
          </a:p>
          <a:p>
            <a:pPr marL="457200" indent="0">
              <a:spcBef>
                <a:spcPts val="100"/>
              </a:spcBef>
              <a:buNone/>
            </a:pPr>
            <a:r>
              <a:rPr sz="1200" b="0" i="0">
                <a:solidFill>
                  <a:srgbClr val="5B6B6B"/>
                </a:solidFill>
                <a:latin typeface="Calibri"/>
              </a:rPr>
              <a:t>Ein Button besteht aus Position, Größe und Text.</a:t>
            </a:r>
          </a:p>
          <a:p>
            <a:pPr marL="457200" indent="-330200">
              <a:spcBef>
                <a:spcPts val="900"/>
              </a:spcBef>
              <a:buClr>
                <a:srgbClr val="0F2E2E"/>
              </a:buClr>
              <a:buSzPts val="1400"/>
              <a:buFont typeface="Calibri"/>
              <a:buChar char="●"/>
            </a:pPr>
            <a:r>
              <a:rPr sz="1400" b="1" i="0">
                <a:solidFill>
                  <a:srgbClr val="0F2E2E"/>
                </a:solidFill>
                <a:latin typeface="Calibri"/>
              </a:rPr>
              <a:t>K2 - Aufrufe mit zuordenbarem Ergebnis</a:t>
            </a:r>
          </a:p>
          <a:p>
            <a:pPr marL="457200" indent="0">
              <a:spcBef>
                <a:spcPts val="100"/>
              </a:spcBef>
              <a:buNone/>
            </a:pPr>
            <a:r>
              <a:rPr sz="1200" b="0" i="0">
                <a:solidFill>
                  <a:srgbClr val="5B6B6B"/>
                </a:solidFill>
                <a:latin typeface="Calibri"/>
              </a:rPr>
              <a:t>Zu jeder Anfrage gehört erkennbar eine Antwort.</a:t>
            </a:r>
          </a:p>
          <a:p>
            <a:pPr marL="457200" indent="-330200">
              <a:spcBef>
                <a:spcPts val="900"/>
              </a:spcBef>
              <a:buClr>
                <a:srgbClr val="0F2E2E"/>
              </a:buClr>
              <a:buSzPts val="1400"/>
              <a:buFont typeface="Calibri"/>
              <a:buChar char="●"/>
            </a:pPr>
            <a:r>
              <a:rPr sz="1400" b="1" i="0">
                <a:solidFill>
                  <a:srgbClr val="0F2E2E"/>
                </a:solidFill>
                <a:latin typeface="Calibri"/>
              </a:rPr>
              <a:t>K3 - Rückfluss von Ereignissen</a:t>
            </a:r>
          </a:p>
          <a:p>
            <a:pPr marL="457200" indent="0">
              <a:spcBef>
                <a:spcPts val="100"/>
              </a:spcBef>
              <a:buNone/>
            </a:pPr>
            <a:r>
              <a:rPr sz="1200" b="0" i="0">
                <a:solidFill>
                  <a:srgbClr val="5B6B6B"/>
                </a:solidFill>
                <a:latin typeface="Calibri"/>
              </a:rPr>
              <a:t>Touch ohne Verlust, oder der Verlust ist erkennbar.</a:t>
            </a:r>
          </a:p>
          <a:p>
            <a:pPr marL="457200" indent="-330200">
              <a:spcBef>
                <a:spcPts val="900"/>
              </a:spcBef>
              <a:buClr>
                <a:srgbClr val="0F2E2E"/>
              </a:buClr>
              <a:buSzPts val="1400"/>
              <a:buFont typeface="Calibri"/>
              <a:buChar char="●"/>
            </a:pPr>
            <a:r>
              <a:rPr sz="1400" b="1" i="0">
                <a:solidFill>
                  <a:srgbClr val="0F2E2E"/>
                </a:solidFill>
                <a:latin typeface="Calibri"/>
              </a:rPr>
              <a:t>K4 - Antwortzeit unter 100 ms</a:t>
            </a:r>
          </a:p>
          <a:p>
            <a:pPr marL="457200" indent="0">
              <a:spcBef>
                <a:spcPts val="100"/>
              </a:spcBef>
              <a:buNone/>
            </a:pPr>
            <a:r>
              <a:rPr sz="1200" b="0" i="0">
                <a:solidFill>
                  <a:srgbClr val="5B6B6B"/>
                </a:solidFill>
                <a:latin typeface="Calibri"/>
              </a:rPr>
              <a:t>Grenze direkter Manipulation.</a:t>
            </a:r>
          </a:p>
          <a:p>
            <a:pPr marL="457200" indent="-330200">
              <a:spcBef>
                <a:spcPts val="900"/>
              </a:spcBef>
              <a:buClr>
                <a:srgbClr val="0F2E2E"/>
              </a:buClr>
              <a:buSzPts val="1400"/>
              <a:buFont typeface="Calibri"/>
              <a:buChar char="●"/>
            </a:pPr>
            <a:r>
              <a:rPr sz="1400" b="1" i="0">
                <a:solidFill>
                  <a:srgbClr val="0F2E2E"/>
                </a:solidFill>
                <a:latin typeface="Calibri"/>
              </a:rPr>
              <a:t>K5 - Begrenzter Speicherbedarf</a:t>
            </a:r>
          </a:p>
          <a:p>
            <a:pPr marL="457200" indent="0">
              <a:spcBef>
                <a:spcPts val="100"/>
              </a:spcBef>
              <a:buNone/>
            </a:pPr>
            <a:r>
              <a:rPr sz="1200" b="0" i="0">
                <a:solidFill>
                  <a:srgbClr val="5B6B6B"/>
                </a:solidFill>
                <a:latin typeface="Calibri"/>
              </a:rPr>
              <a:t>Feste Obergrenzen der Puffer.</a:t>
            </a:r>
          </a:p>
          <a:p>
            <a:pPr marL="457200" indent="-330200">
              <a:spcBef>
                <a:spcPts val="900"/>
              </a:spcBef>
              <a:buClr>
                <a:srgbClr val="0F2E2E"/>
              </a:buClr>
              <a:buSzPts val="1400"/>
              <a:buFont typeface="Calibri"/>
              <a:buChar char="●"/>
            </a:pPr>
            <a:r>
              <a:rPr sz="1400" b="1" i="0">
                <a:solidFill>
                  <a:srgbClr val="0F2E2E"/>
                </a:solidFill>
                <a:latin typeface="Calibri"/>
              </a:rPr>
              <a:t>K6 - Unabhängigkeit vom Übertragungsweg</a:t>
            </a:r>
          </a:p>
          <a:p>
            <a:pPr marL="457200" indent="0">
              <a:spcBef>
                <a:spcPts val="100"/>
              </a:spcBef>
              <a:buNone/>
            </a:pPr>
            <a:r>
              <a:rPr sz="1200" b="0" i="0">
                <a:solidFill>
                  <a:srgbClr val="5B6B6B"/>
                </a:solidFill>
                <a:latin typeface="Calibri"/>
              </a:rPr>
              <a:t>Wegabhängiges liegt an einer Stelle.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Hardwareaufbau</a:t>
            </a:r>
          </a:p>
        </p:txBody>
      </p:sp>
      <p:sp>
        <p:nvSpPr>
          <p:cNvPr id="3" name="Text Placeholder 2"/>
          <p:cNvSpPr>
            <a:spLocks noGrp="1"/>
          </p:cNvSpPr>
          <p:nvPr>
            <p:ph type="body" idx="1"/>
          </p:nvPr>
        </p:nvSpPr>
        <p:spPr>
          <a:xfrm>
            <a:off x="311700" y="1152475"/>
            <a:ext cx="8138300" cy="17000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LMS-ESP32</a:t>
            </a:r>
          </a:p>
          <a:p>
            <a:pPr marL="457200" indent="0">
              <a:spcBef>
                <a:spcPts val="100"/>
              </a:spcBef>
              <a:buNone/>
            </a:pPr>
            <a:r>
              <a:rPr sz="1200" b="0" i="0">
                <a:solidFill>
                  <a:srgbClr val="5B6B6B"/>
                </a:solidFill>
                <a:latin typeface="Calibri"/>
              </a:rPr>
              <a:t>MicroPython + LVGL, am Sensorport des Hubs</a:t>
            </a:r>
          </a:p>
          <a:p>
            <a:pPr marL="457200" indent="-330200">
              <a:spcBef>
                <a:spcPts val="900"/>
              </a:spcBef>
              <a:buClr>
                <a:srgbClr val="0F2E2E"/>
              </a:buClr>
              <a:buSzPts val="1400"/>
              <a:buFont typeface="Calibri"/>
              <a:buChar char="●"/>
            </a:pPr>
            <a:r>
              <a:rPr sz="1400" b="1" i="0">
                <a:solidFill>
                  <a:srgbClr val="0F2E2E"/>
                </a:solidFill>
                <a:latin typeface="Calibri"/>
              </a:rPr>
              <a:t>Display</a:t>
            </a:r>
          </a:p>
          <a:p>
            <a:pPr marL="457200" indent="0">
              <a:spcBef>
                <a:spcPts val="100"/>
              </a:spcBef>
              <a:buNone/>
            </a:pPr>
            <a:r>
              <a:rPr sz="1200" b="0" i="0">
                <a:solidFill>
                  <a:srgbClr val="5B6B6B"/>
                </a:solidFill>
                <a:latin typeface="Calibri"/>
              </a:rPr>
              <a:t>ILI9341 (SPI), Touchcontroller (I²C)</a:t>
            </a:r>
          </a:p>
          <a:p>
            <a:pPr marL="457200" indent="-330200">
              <a:spcBef>
                <a:spcPts val="900"/>
              </a:spcBef>
              <a:buClr>
                <a:srgbClr val="0F2E2E"/>
              </a:buClr>
              <a:buSzPts val="1400"/>
              <a:buFont typeface="Calibri"/>
              <a:buChar char="●"/>
            </a:pPr>
            <a:r>
              <a:rPr sz="1400" b="1" i="0">
                <a:solidFill>
                  <a:srgbClr val="0F2E2E"/>
                </a:solidFill>
                <a:latin typeface="Calibri"/>
              </a:rPr>
              <a:t>Adapterplatine</a:t>
            </a:r>
          </a:p>
          <a:p>
            <a:pPr marL="457200" indent="0">
              <a:spcBef>
                <a:spcPts val="100"/>
              </a:spcBef>
              <a:buNone/>
            </a:pPr>
            <a:r>
              <a:rPr sz="1200" b="0" i="0">
                <a:solidFill>
                  <a:srgbClr val="5B6B6B"/>
                </a:solidFill>
                <a:latin typeface="Calibri"/>
              </a:rPr>
              <a:t>Nur Steckverbinder, Baugruppen ohne Löten tauschbar</a:t>
            </a:r>
          </a:p>
        </p:txBody>
      </p:sp>
      <p:pic>
        <p:nvPicPr>
          <p:cNvPr id="4" name="Picture 3" descr="3d_render.png"/>
          <p:cNvPicPr>
            <a:picLocks noChangeAspect="1"/>
          </p:cNvPicPr>
          <p:nvPr/>
        </p:nvPicPr>
        <p:blipFill>
          <a:blip r:embed="rId3"/>
          <a:stretch>
            <a:fillRect/>
          </a:stretch>
        </p:blipFill>
        <p:spPr>
          <a:xfrm>
            <a:off x="311700" y="3050000"/>
            <a:ext cx="5669280" cy="173184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0" i="0">
                <a:solidFill>
                  <a:srgbClr val="0F2E2E"/>
                </a:solidFill>
                <a:latin typeface="Calibri"/>
              </a:rPr>
              <a:t>Architektur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Schichtenmodell - fünf Schichten, zwei Seiten</a:t>
            </a:r>
          </a:p>
        </p:txBody>
      </p:sp>
      <p:graphicFrame>
        <p:nvGraphicFramePr>
          <p:cNvPr id="3" name="Table 2"/>
          <p:cNvGraphicFramePr>
            <a:graphicFrameLocks noGrp="1"/>
          </p:cNvGraphicFramePr>
          <p:nvPr/>
        </p:nvGraphicFramePr>
        <p:xfrm>
          <a:off x="311700" y="1250000"/>
          <a:ext cx="8138300" cy="2660000"/>
        </p:xfrm>
        <a:graphic>
          <a:graphicData uri="http://schemas.openxmlformats.org/drawingml/2006/table">
            <a:tbl>
              <a:tblPr firstRow="0" bandRow="0">
                <a:tableStyleId>{2D5ABB26-0587-4C30-8999-92F81FD0307C}</a:tableStyleId>
              </a:tblPr>
              <a:tblGrid>
                <a:gridCol w="4069150"/>
                <a:gridCol w="4069150"/>
              </a:tblGrid>
              <a:tr h="380000">
                <a:tc>
                  <a:txBody>
                    <a:bodyPr wrap="square"/>
                    <a:lstStyle/>
                    <a:p>
                      <a:r>
                        <a:rPr sz="1500" b="1" i="0">
                          <a:solidFill>
                            <a:srgbClr val="FFFFFF"/>
                          </a:solidFill>
                          <a:latin typeface="Calibri"/>
                        </a:rPr>
                        <a:t>Client (Hub, Pybricks)</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1" i="0">
                          <a:solidFill>
                            <a:srgbClr val="FFFFFF"/>
                          </a:solidFill>
                          <a:latin typeface="Calibri"/>
                        </a:rPr>
                        <a:t>Server (ESP32, MicroPython)</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500" b="1" i="0">
                          <a:solidFill>
                            <a:srgbClr val="0F2E2E"/>
                          </a:solidFill>
                          <a:latin typeface="Calibri"/>
                        </a:rPr>
                        <a:t>Anwendung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0" i="0">
                          <a:solidFill>
                            <a:srgbClr val="0F2E2E"/>
                          </a:solidFill>
                          <a:latin typeface="Calibri"/>
                        </a:rPr>
                        <a:t>Anzeige und Eingabe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500" b="1" i="0">
                          <a:solidFill>
                            <a:srgbClr val="0F2E2E"/>
                          </a:solidFill>
                          <a:latin typeface="Calibri"/>
                        </a:rPr>
                        <a:t>Objektmodell</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0" i="0">
                          <a:solidFill>
                            <a:srgbClr val="0F2E2E"/>
                          </a:solidFill>
                          <a:latin typeface="Calibri"/>
                        </a:rPr>
                        <a:t>Objektmodell</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500" b="1" i="0">
                          <a:solidFill>
                            <a:srgbClr val="0F2E2E"/>
                          </a:solidFill>
                          <a:latin typeface="Calibri"/>
                        </a:rPr>
                        <a:t>Kommunikationsschicht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0" i="0">
                          <a:solidFill>
                            <a:srgbClr val="0F2E2E"/>
                          </a:solidFill>
                          <a:latin typeface="Calibri"/>
                        </a:rPr>
                        <a:t>Kommunikationsschicht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500" b="1" i="0">
                          <a:solidFill>
                            <a:srgbClr val="0F2E2E"/>
                          </a:solidFill>
                          <a:latin typeface="Calibri"/>
                        </a:rPr>
                        <a:t>Transportschicht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0" i="0">
                          <a:solidFill>
                            <a:srgbClr val="0F2E2E"/>
                          </a:solidFill>
                          <a:latin typeface="Calibri"/>
                        </a:rPr>
                        <a:t>Transportschicht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500" b="1" i="0">
                          <a:solidFill>
                            <a:srgbClr val="0F2E2E"/>
                          </a:solidFill>
                          <a:latin typeface="Calibri"/>
                        </a:rPr>
                        <a:t>Busanbindung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0" i="0">
                          <a:solidFill>
                            <a:srgbClr val="0F2E2E"/>
                          </a:solidFill>
                          <a:latin typeface="Calibri"/>
                        </a:rPr>
                        <a:t>Busanbindung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500" b="1" i="0">
                          <a:solidFill>
                            <a:srgbClr val="0F2E2E"/>
                          </a:solidFill>
                          <a:latin typeface="Calibri"/>
                        </a:rPr>
                        <a:t>Bus: feste Blockgröße (16 Byte), anfragegetrieben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500" b="0" i="0">
                          <a:solidFill>
                            <a:srgbClr val="0F2E2E"/>
                          </a:solidFill>
                          <a:latin typeface="Calibri"/>
                        </a:rPr>
                        <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4" name="TextBox 3"/>
          <p:cNvSpPr txBox="1"/>
          <p:nvPr/>
        </p:nvSpPr>
        <p:spPr>
          <a:xfrm>
            <a:off x="311700" y="3950000"/>
            <a:ext cx="8138300" cy="500000"/>
          </a:xfrm>
          <a:prstGeom prst="rect">
            <a:avLst/>
          </a:prstGeom>
          <a:noFill/>
        </p:spPr>
        <p:txBody>
          <a:bodyPr wrap="square">
            <a:spAutoFit/>
          </a:bodyPr>
          <a:lstStyle/>
          <a:p>
            <a:r>
              <a:rPr sz="1400" b="0" i="1">
                <a:solidFill>
                  <a:srgbClr val="5B6B6B"/>
                </a:solidFill>
                <a:latin typeface="Calibri"/>
              </a:rPr>
              <a:t>Symmetrisch aufgebaut, streng geschichtet: jede Schicht spricht nur mit der direkt darunterliegenden.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Aufgaben der Schichten</a:t>
            </a:r>
          </a:p>
        </p:txBody>
      </p:sp>
      <p:graphicFrame>
        <p:nvGraphicFramePr>
          <p:cNvPr id="3" name="Table 2"/>
          <p:cNvGraphicFramePr>
            <a:graphicFrameLocks noGrp="1"/>
          </p:cNvGraphicFramePr>
          <p:nvPr/>
        </p:nvGraphicFramePr>
        <p:xfrm>
          <a:off x="311700" y="1250000"/>
          <a:ext cx="8138299" cy="2880000"/>
        </p:xfrm>
        <a:graphic>
          <a:graphicData uri="http://schemas.openxmlformats.org/drawingml/2006/table">
            <a:tbl>
              <a:tblPr firstRow="0" bandRow="0">
                <a:tableStyleId>{2D5ABB26-0587-4C30-8999-92F81FD0307C}</a:tableStyleId>
              </a:tblPr>
              <a:tblGrid>
                <a:gridCol w="1808511"/>
                <a:gridCol w="3843086"/>
                <a:gridCol w="2486702"/>
              </a:tblGrid>
              <a:tr h="480000">
                <a:tc>
                  <a:txBody>
                    <a:bodyPr wrap="square"/>
                    <a:lstStyle/>
                    <a:p>
                      <a:r>
                        <a:rPr sz="1300" b="1" i="0">
                          <a:solidFill>
                            <a:srgbClr val="FFFFFF"/>
                          </a:solidFill>
                          <a:latin typeface="Calibri"/>
                        </a:rPr>
                        <a:t>Schicht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Aufgabe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Verbirgt nach oben</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480000">
                <a:tc>
                  <a:txBody>
                    <a:bodyPr wrap="square"/>
                    <a:lstStyle/>
                    <a:p>
                      <a:r>
                        <a:rPr sz="1300" b="1" i="0">
                          <a:solidFill>
                            <a:srgbClr val="0F2E2E"/>
                          </a:solidFill>
                          <a:latin typeface="Calibri"/>
                        </a:rPr>
                        <a:t>Busanbindung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Block fester Größe befördern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den Übertragungsweg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480000">
                <a:tc>
                  <a:txBody>
                    <a:bodyPr wrap="square"/>
                    <a:lstStyle/>
                    <a:p>
                      <a:r>
                        <a:rPr sz="1300" b="1" i="0">
                          <a:solidFill>
                            <a:srgbClr val="0F2E2E"/>
                          </a:solidFill>
                          <a:latin typeface="Calibri"/>
                        </a:rPr>
                        <a:t>Transport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Serialisierung, Rahmung, Fragmentierung</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die Paketgröße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480000">
                <a:tc>
                  <a:txBody>
                    <a:bodyPr wrap="square"/>
                    <a:lstStyle/>
                    <a:p>
                      <a:r>
                        <a:rPr sz="1300" b="1" i="0">
                          <a:solidFill>
                            <a:srgbClr val="0F2E2E"/>
                          </a:solidFill>
                          <a:latin typeface="Calibri"/>
                        </a:rPr>
                        <a:t>Kommunikation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Aufruf als Nachricht, Ergebnis zuordnen, Rückkanal</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Übertragung und Warten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480000">
                <a:tc>
                  <a:txBody>
                    <a:bodyPr wrap="square"/>
                    <a:lstStyle/>
                    <a:p>
                      <a:r>
                        <a:rPr sz="1300" b="1" i="0">
                          <a:solidFill>
                            <a:srgbClr val="0F2E2E"/>
                          </a:solidFill>
                          <a:latin typeface="Calibri"/>
                        </a:rPr>
                        <a:t>Objektmodell</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Entfernte Objekte, Stellvertreter, Referenzen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dass das Objekt entfernt ist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480000">
                <a:tc>
                  <a:txBody>
                    <a:bodyPr wrap="square"/>
                    <a:lstStyle/>
                    <a:p>
                      <a:r>
                        <a:rPr sz="1300" b="1" i="0">
                          <a:solidFill>
                            <a:srgbClr val="0F2E2E"/>
                          </a:solidFill>
                          <a:latin typeface="Calibri"/>
                        </a:rPr>
                        <a:t>Anwendung / Anzeige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Programm des Hubs / Darstellung und Touch</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Drei wiederkehrende Rollen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600" b="1" i="0">
                <a:solidFill>
                  <a:srgbClr val="0F2E2E"/>
                </a:solidFill>
                <a:latin typeface="Calibri"/>
              </a:rPr>
              <a:t>Interceptor</a:t>
            </a:r>
          </a:p>
          <a:p>
            <a:pPr marL="457200" indent="0">
              <a:spcBef>
                <a:spcPts val="100"/>
              </a:spcBef>
              <a:buNone/>
            </a:pPr>
            <a:r>
              <a:rPr sz="1400" b="0" i="0">
                <a:solidFill>
                  <a:srgbClr val="5B6B6B"/>
                </a:solidFill>
                <a:latin typeface="Calibri"/>
              </a:rPr>
              <a:t>Schnittstelle zwischen Kommunikationsschicht und Busanbindung. Client: verpackt Aufruf, sendet Pakete, holt Ergebnis. Server: nimmt Pakete an, setzt zusammen, stellt Ergebnis bereit. Ansatzpunkt für K6.</a:t>
            </a:r>
          </a:p>
          <a:p>
            <a:pPr marL="457200" indent="-330200">
              <a:spcBef>
                <a:spcPts val="900"/>
              </a:spcBef>
              <a:buClr>
                <a:srgbClr val="0F2E2E"/>
              </a:buClr>
              <a:buSzPts val="1400"/>
              <a:buFont typeface="Calibri"/>
              <a:buChar char="●"/>
            </a:pPr>
            <a:r>
              <a:rPr sz="1600" b="1" i="0">
                <a:solidFill>
                  <a:srgbClr val="0F2E2E"/>
                </a:solidFill>
                <a:latin typeface="Calibri"/>
              </a:rPr>
              <a:t>Dispatcher</a:t>
            </a:r>
          </a:p>
          <a:p>
            <a:pPr marL="457200" indent="0">
              <a:spcBef>
                <a:spcPts val="100"/>
              </a:spcBef>
              <a:buNone/>
            </a:pPr>
            <a:r>
              <a:rPr sz="1400" b="0" i="0">
                <a:solidFill>
                  <a:srgbClr val="5B6B6B"/>
                </a:solidFill>
                <a:latin typeface="Calibri"/>
              </a:rPr>
              <a:t>Ordnet eine Nachricht der Methode zu: der Scope wählt den Empfänger, dort wird die Methode aufgerufen. Ein Empfänger je Objekttyp.</a:t>
            </a:r>
          </a:p>
          <a:p>
            <a:pPr marL="457200" indent="-330200">
              <a:spcBef>
                <a:spcPts val="900"/>
              </a:spcBef>
              <a:buClr>
                <a:srgbClr val="0F2E2E"/>
              </a:buClr>
              <a:buSzPts val="1400"/>
              <a:buFont typeface="Calibri"/>
              <a:buChar char="●"/>
            </a:pPr>
            <a:r>
              <a:rPr sz="1600" b="1" i="0">
                <a:solidFill>
                  <a:srgbClr val="0F2E2E"/>
                </a:solidFill>
                <a:latin typeface="Calibri"/>
              </a:rPr>
              <a:t>Stellvertreter und Adapter</a:t>
            </a:r>
          </a:p>
          <a:p>
            <a:pPr marL="457200" indent="0">
              <a:spcBef>
                <a:spcPts val="100"/>
              </a:spcBef>
              <a:buNone/>
            </a:pPr>
            <a:r>
              <a:rPr sz="1400" b="0" i="0">
                <a:solidFill>
                  <a:srgbClr val="5B6B6B"/>
                </a:solidFill>
                <a:latin typeface="Calibri"/>
              </a:rPr>
              <a:t>Zwei Seiten desselben Objekttyps. Der Stellvertreter (Client) leitet jeden Aufruf weiter, der Adapter (Server) enthält die Logik. Gemeinsame Schnittstelle = Aufrufstransparenz.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Kommunikationsmodell - zwei Kanäle</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600" b="1" i="0">
                <a:solidFill>
                  <a:srgbClr val="0F2E2E"/>
                </a:solidFill>
                <a:latin typeface="Calibri"/>
              </a:rPr>
              <a:t>Aus Sicht der Anwendung synchron</a:t>
            </a:r>
          </a:p>
          <a:p>
            <a:pPr marL="457200" indent="0">
              <a:spcBef>
                <a:spcPts val="100"/>
              </a:spcBef>
              <a:buNone/>
            </a:pPr>
            <a:r>
              <a:rPr sz="1400" b="0" i="0">
                <a:solidFill>
                  <a:srgbClr val="5B6B6B"/>
                </a:solidFill>
                <a:latin typeface="Calibri"/>
              </a:rPr>
              <a:t>Ein Aufruf kehrt zurück, sobald das Ergebnis vorliegt.</a:t>
            </a:r>
          </a:p>
          <a:p>
            <a:pPr marL="457200" indent="-330200">
              <a:spcBef>
                <a:spcPts val="900"/>
              </a:spcBef>
              <a:buClr>
                <a:srgbClr val="0F2E2E"/>
              </a:buClr>
              <a:buSzPts val="1400"/>
              <a:buFont typeface="Calibri"/>
              <a:buChar char="●"/>
            </a:pPr>
            <a:r>
              <a:rPr sz="1600" b="1" i="0">
                <a:solidFill>
                  <a:srgbClr val="0F2E2E"/>
                </a:solidFill>
                <a:latin typeface="Calibri"/>
              </a:rPr>
              <a:t>Kanal 1 - Aufruf senden</a:t>
            </a:r>
          </a:p>
          <a:p>
            <a:pPr marL="457200" indent="0">
              <a:spcBef>
                <a:spcPts val="100"/>
              </a:spcBef>
              <a:buNone/>
            </a:pPr>
            <a:r>
              <a:rPr sz="1400" b="0" i="0">
                <a:solidFill>
                  <a:srgbClr val="5B6B6B"/>
                </a:solidFill>
                <a:latin typeface="Calibri"/>
              </a:rPr>
              <a:t>Client sendet die Pakete eines Aufrufs, der Server bestätigt jedes Paket.</a:t>
            </a:r>
          </a:p>
          <a:p>
            <a:pPr marL="457200" indent="-330200">
              <a:spcBef>
                <a:spcPts val="900"/>
              </a:spcBef>
              <a:buClr>
                <a:srgbClr val="0F2E2E"/>
              </a:buClr>
              <a:buSzPts val="1400"/>
              <a:buFont typeface="Calibri"/>
              <a:buChar char="●"/>
            </a:pPr>
            <a:r>
              <a:rPr sz="1600" b="1" i="0">
                <a:solidFill>
                  <a:srgbClr val="0F2E2E"/>
                </a:solidFill>
                <a:latin typeface="Calibri"/>
              </a:rPr>
              <a:t>Kanal 2 - Zustand abfragen</a:t>
            </a:r>
          </a:p>
          <a:p>
            <a:pPr marL="457200" indent="0">
              <a:spcBef>
                <a:spcPts val="100"/>
              </a:spcBef>
              <a:buNone/>
            </a:pPr>
            <a:r>
              <a:rPr sz="1400" b="0" i="0">
                <a:solidFill>
                  <a:srgbClr val="5B6B6B"/>
                </a:solidFill>
                <a:latin typeface="Calibri"/>
              </a:rPr>
              <a:t>Client prüft, ob ein Ergebnis bereitliegt, und holt es Paket für Paket ab.</a:t>
            </a:r>
          </a:p>
          <a:p>
            <a:pPr marL="457200" indent="-330200">
              <a:spcBef>
                <a:spcPts val="900"/>
              </a:spcBef>
              <a:buClr>
                <a:srgbClr val="0F2E2E"/>
              </a:buClr>
              <a:buSzPts val="1400"/>
              <a:buFont typeface="Calibri"/>
              <a:buChar char="●"/>
            </a:pPr>
            <a:r>
              <a:rPr sz="1600" b="1" i="0">
                <a:solidFill>
                  <a:srgbClr val="0F2E2E"/>
                </a:solidFill>
                <a:latin typeface="Calibri"/>
              </a:rPr>
              <a:t>Ereignisse</a:t>
            </a:r>
          </a:p>
          <a:p>
            <a:pPr marL="457200" indent="0">
              <a:spcBef>
                <a:spcPts val="100"/>
              </a:spcBef>
              <a:buNone/>
            </a:pPr>
            <a:r>
              <a:rPr sz="1400" b="0" i="0">
                <a:solidFill>
                  <a:srgbClr val="5B6B6B"/>
                </a:solidFill>
                <a:latin typeface="Calibri"/>
              </a:rPr>
              <a:t>Server puffert Berührungen, Client fragt bei Bedarf ab. Die zeitliche Auflösung ist damit an den Takt des Clients gebunden.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0" i="0">
                <a:solidFill>
                  <a:srgbClr val="0F2E2E"/>
                </a:solidFill>
                <a:latin typeface="Calibri"/>
              </a:rPr>
              <a:t>Entwurf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Interceptor - eine einzige Operation</a:t>
            </a:r>
          </a:p>
        </p:txBody>
      </p:sp>
      <p:sp>
        <p:nvSpPr>
          <p:cNvPr id="3" name="Text Placeholder 2"/>
          <p:cNvSpPr>
            <a:spLocks noGrp="1"/>
          </p:cNvSpPr>
          <p:nvPr>
            <p:ph type="body" idx="1"/>
          </p:nvPr>
        </p:nvSpPr>
        <p:spPr>
          <a:xfrm>
            <a:off x="311700" y="1152475"/>
            <a:ext cx="49000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Block rein, Block raus</a:t>
            </a:r>
          </a:p>
          <a:p>
            <a:pPr marL="457200" indent="0">
              <a:spcBef>
                <a:spcPts val="100"/>
              </a:spcBef>
              <a:buNone/>
            </a:pPr>
            <a:r>
              <a:rPr sz="1300" b="0" i="0">
                <a:solidFill>
                  <a:srgbClr val="5B6B6B"/>
                </a:solidFill>
                <a:latin typeface="Calibri"/>
              </a:rPr>
              <a:t>Die Schnittstelle befördert nur, sie liest den Inhalt nicht.</a:t>
            </a:r>
          </a:p>
          <a:p>
            <a:pPr marL="457200" indent="-330200">
              <a:spcBef>
                <a:spcPts val="900"/>
              </a:spcBef>
              <a:buClr>
                <a:srgbClr val="0F2E2E"/>
              </a:buClr>
              <a:buSzPts val="1400"/>
              <a:buFont typeface="Calibri"/>
              <a:buChar char="●"/>
            </a:pPr>
            <a:r>
              <a:rPr sz="1500" b="1" i="0">
                <a:solidFill>
                  <a:srgbClr val="0F2E2E"/>
                </a:solidFill>
                <a:latin typeface="Calibri"/>
              </a:rPr>
              <a:t>Schnittmenge der Verbindungsklasse</a:t>
            </a:r>
          </a:p>
          <a:p>
            <a:pPr marL="457200" indent="0">
              <a:spcBef>
                <a:spcPts val="100"/>
              </a:spcBef>
              <a:buNone/>
            </a:pPr>
            <a:r>
              <a:rPr sz="1300" b="0" i="0">
                <a:solidFill>
                  <a:srgbClr val="5B6B6B"/>
                </a:solidFill>
                <a:latin typeface="Calibri"/>
              </a:rPr>
              <a:t>Kein Senden ohne Anfrage, kein Warten auf eine Meldung des Servers.</a:t>
            </a:r>
          </a:p>
          <a:p>
            <a:pPr marL="457200" indent="-330200">
              <a:spcBef>
                <a:spcPts val="900"/>
              </a:spcBef>
              <a:buClr>
                <a:srgbClr val="0F2E2E"/>
              </a:buClr>
              <a:buSzPts val="1400"/>
              <a:buFont typeface="Calibri"/>
              <a:buChar char="●"/>
            </a:pPr>
            <a:r>
              <a:rPr sz="1500" b="1" i="0">
                <a:solidFill>
                  <a:srgbClr val="0F2E2E"/>
                </a:solidFill>
                <a:latin typeface="Calibri"/>
              </a:rPr>
              <a:t>Symmetrisch</a:t>
            </a:r>
          </a:p>
          <a:p>
            <a:pPr marL="457200" indent="0">
              <a:spcBef>
                <a:spcPts val="100"/>
              </a:spcBef>
              <a:buNone/>
            </a:pPr>
            <a:r>
              <a:rPr sz="1300" b="0" i="0">
                <a:solidFill>
                  <a:srgbClr val="5B6B6B"/>
                </a:solidFill>
                <a:latin typeface="Calibri"/>
              </a:rPr>
              <a:t>Beide Seiten unterscheiden sich nur in der Richtung, aus der ein Block eintrifft.</a:t>
            </a:r>
          </a:p>
          <a:p>
            <a:pPr marL="457200" indent="-330200">
              <a:spcBef>
                <a:spcPts val="900"/>
              </a:spcBef>
              <a:buClr>
                <a:srgbClr val="0F2E2E"/>
              </a:buClr>
              <a:buSzPts val="1400"/>
              <a:buFont typeface="Calibri"/>
              <a:buChar char="●"/>
            </a:pPr>
            <a:r>
              <a:rPr sz="1500" b="1" i="0">
                <a:solidFill>
                  <a:srgbClr val="0F2E2E"/>
                </a:solidFill>
                <a:latin typeface="Calibri"/>
              </a:rPr>
              <a:t>Erfüllt K6</a:t>
            </a:r>
          </a:p>
          <a:p>
            <a:pPr marL="457200" indent="0">
              <a:spcBef>
                <a:spcPts val="100"/>
              </a:spcBef>
              <a:buNone/>
            </a:pPr>
            <a:r>
              <a:rPr sz="1300" b="0" i="0">
                <a:solidFill>
                  <a:srgbClr val="5B6B6B"/>
                </a:solidFill>
                <a:latin typeface="Calibri"/>
              </a:rPr>
              <a:t>Ein anderer Weg heißt: eine neue Umsetzung dieser einen Operation.</a:t>
            </a:r>
          </a:p>
        </p:txBody>
      </p:sp>
      <p:pic>
        <p:nvPicPr>
          <p:cNvPr id="4" name="Picture 3" descr="interceptor_ablauf.png"/>
          <p:cNvPicPr>
            <a:picLocks noChangeAspect="1"/>
          </p:cNvPicPr>
          <p:nvPr/>
        </p:nvPicPr>
        <p:blipFill>
          <a:blip r:embed="rId3"/>
          <a:stretch>
            <a:fillRect/>
          </a:stretch>
        </p:blipFill>
        <p:spPr>
          <a:xfrm>
            <a:off x="5450000" y="1100000"/>
            <a:ext cx="2834111" cy="30175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Frame-Struktur - fünf notwendige Felder</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Zugehörigkeit</a:t>
            </a:r>
          </a:p>
          <a:p>
            <a:pPr marL="457200" indent="0">
              <a:spcBef>
                <a:spcPts val="100"/>
              </a:spcBef>
              <a:buNone/>
            </a:pPr>
            <a:r>
              <a:rPr sz="1300" b="0" i="0">
                <a:solidFill>
                  <a:srgbClr val="5B6B6B"/>
                </a:solidFill>
                <a:latin typeface="Calibri"/>
              </a:rPr>
              <a:t>Kennung der Nachricht, macht veraltete Antworten erkennbar.</a:t>
            </a:r>
          </a:p>
          <a:p>
            <a:pPr marL="457200" indent="-330200">
              <a:spcBef>
                <a:spcPts val="900"/>
              </a:spcBef>
              <a:buClr>
                <a:srgbClr val="0F2E2E"/>
              </a:buClr>
              <a:buSzPts val="1400"/>
              <a:buFont typeface="Calibri"/>
              <a:buChar char="●"/>
            </a:pPr>
            <a:r>
              <a:rPr sz="1500" b="1" i="0">
                <a:solidFill>
                  <a:srgbClr val="0F2E2E"/>
                </a:solidFill>
                <a:latin typeface="Calibri"/>
              </a:rPr>
              <a:t>Position</a:t>
            </a:r>
          </a:p>
          <a:p>
            <a:pPr marL="457200" indent="0">
              <a:spcBef>
                <a:spcPts val="100"/>
              </a:spcBef>
              <a:buNone/>
            </a:pPr>
            <a:r>
              <a:rPr sz="1300" b="0" i="0">
                <a:solidFill>
                  <a:srgbClr val="5B6B6B"/>
                </a:solidFill>
                <a:latin typeface="Calibri"/>
              </a:rPr>
              <a:t>Reihenfolge und Erkennung von Wiederholungen.</a:t>
            </a:r>
          </a:p>
          <a:p>
            <a:pPr marL="457200" indent="-330200">
              <a:spcBef>
                <a:spcPts val="900"/>
              </a:spcBef>
              <a:buClr>
                <a:srgbClr val="0F2E2E"/>
              </a:buClr>
              <a:buSzPts val="1400"/>
              <a:buFont typeface="Calibri"/>
              <a:buChar char="●"/>
            </a:pPr>
            <a:r>
              <a:rPr sz="1500" b="1" i="0">
                <a:solidFill>
                  <a:srgbClr val="0F2E2E"/>
                </a:solidFill>
                <a:latin typeface="Calibri"/>
              </a:rPr>
              <a:t>Art</a:t>
            </a:r>
          </a:p>
          <a:p>
            <a:pPr marL="457200" indent="0">
              <a:spcBef>
                <a:spcPts val="100"/>
              </a:spcBef>
              <a:buNone/>
            </a:pPr>
            <a:r>
              <a:rPr sz="1300" b="0" i="0">
                <a:solidFill>
                  <a:srgbClr val="5B6B6B"/>
                </a:solidFill>
                <a:latin typeface="Calibri"/>
              </a:rPr>
              <a:t>Nutzlast, Bestätigung, Anfrage oder Fehler.</a:t>
            </a:r>
          </a:p>
          <a:p>
            <a:pPr marL="457200" indent="-330200">
              <a:spcBef>
                <a:spcPts val="900"/>
              </a:spcBef>
              <a:buClr>
                <a:srgbClr val="0F2E2E"/>
              </a:buClr>
              <a:buSzPts val="1400"/>
              <a:buFont typeface="Calibri"/>
              <a:buChar char="●"/>
            </a:pPr>
            <a:r>
              <a:rPr sz="1500" b="1" i="0">
                <a:solidFill>
                  <a:srgbClr val="0F2E2E"/>
                </a:solidFill>
                <a:latin typeface="Calibri"/>
              </a:rPr>
              <a:t>Länge der Nutzlast</a:t>
            </a:r>
          </a:p>
          <a:p>
            <a:pPr marL="457200" indent="0">
              <a:spcBef>
                <a:spcPts val="100"/>
              </a:spcBef>
              <a:buNone/>
            </a:pPr>
            <a:r>
              <a:rPr sz="1300" b="0" i="0">
                <a:solidFill>
                  <a:srgbClr val="5B6B6B"/>
                </a:solidFill>
                <a:latin typeface="Calibri"/>
              </a:rPr>
              <a:t>Wie viele Bytes des Blocks wirklich Nutzlast sind.</a:t>
            </a:r>
          </a:p>
          <a:p>
            <a:pPr marL="457200" indent="-330200">
              <a:spcBef>
                <a:spcPts val="900"/>
              </a:spcBef>
              <a:buClr>
                <a:srgbClr val="0F2E2E"/>
              </a:buClr>
              <a:buSzPts val="1400"/>
              <a:buFont typeface="Calibri"/>
              <a:buChar char="●"/>
            </a:pPr>
            <a:r>
              <a:rPr sz="1500" b="1" i="0">
                <a:solidFill>
                  <a:srgbClr val="0F2E2E"/>
                </a:solidFill>
                <a:latin typeface="Calibri"/>
              </a:rPr>
              <a:t>Ende der Nachricht</a:t>
            </a:r>
          </a:p>
          <a:p>
            <a:pPr marL="457200" indent="0">
              <a:spcBef>
                <a:spcPts val="100"/>
              </a:spcBef>
              <a:buNone/>
            </a:pPr>
            <a:r>
              <a:rPr sz="1300" b="0" i="0">
                <a:solidFill>
                  <a:srgbClr val="5B6B6B"/>
                </a:solidFill>
                <a:latin typeface="Calibri"/>
              </a:rPr>
              <a:t>Explizit markiert; ein nicht voller Block genügt nicht als Kennzeichen.</a:t>
            </a:r>
          </a:p>
          <a:p>
            <a:pPr marL="0" indent="0">
              <a:spcBef>
                <a:spcPts val="900"/>
              </a:spcBef>
              <a:buNone/>
            </a:pPr>
            <a:r>
              <a:rPr sz="1500" b="0" i="1">
                <a:solidFill>
                  <a:srgbClr val="5B6B6B"/>
                </a:solidFill>
                <a:latin typeface="Calibri"/>
              </a:rPr>
              <a:t>Größe und Format der Felder sind im Entwurf bewusst offen.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Längenfeld und Kosten der Rahmung</a:t>
            </a:r>
          </a:p>
        </p:txBody>
      </p:sp>
      <p:sp>
        <p:nvSpPr>
          <p:cNvPr id="3" name="Text Placeholder 2"/>
          <p:cNvSpPr>
            <a:spLocks noGrp="1"/>
          </p:cNvSpPr>
          <p:nvPr>
            <p:ph type="body" idx="1"/>
          </p:nvPr>
        </p:nvSpPr>
        <p:spPr>
          <a:xfrm>
            <a:off x="311700" y="1152475"/>
            <a:ext cx="47000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Warum ein Längenfeld?</a:t>
            </a:r>
          </a:p>
          <a:p>
            <a:pPr marL="457200" indent="0">
              <a:spcBef>
                <a:spcPts val="100"/>
              </a:spcBef>
              <a:buNone/>
            </a:pPr>
            <a:r>
              <a:rPr sz="1300" b="0" i="0">
                <a:solidFill>
                  <a:srgbClr val="5B6B6B"/>
                </a:solidFill>
                <a:latin typeface="Calibri"/>
              </a:rPr>
              <a:t>Textformate: Füllbytes am Blockende erkennbar. Binäre Formate enthalten Nullbytes, Abschneiden zerstört Nutzlast. Längenfeld = Formatunabhängigkeit.</a:t>
            </a:r>
          </a:p>
          <a:p>
            <a:pPr marL="457200" indent="-330200">
              <a:spcBef>
                <a:spcPts val="900"/>
              </a:spcBef>
              <a:buClr>
                <a:srgbClr val="0F2E2E"/>
              </a:buClr>
              <a:buSzPts val="1400"/>
              <a:buFont typeface="Calibri"/>
              <a:buChar char="●"/>
            </a:pPr>
            <a:r>
              <a:rPr sz="1500" b="1" i="0">
                <a:solidFill>
                  <a:srgbClr val="0F2E2E"/>
                </a:solidFill>
                <a:latin typeface="Calibri"/>
              </a:rPr>
              <a:t>Kosten der Rahmung</a:t>
            </a:r>
          </a:p>
          <a:p>
            <a:pPr marL="457200" indent="0">
              <a:spcBef>
                <a:spcPts val="100"/>
              </a:spcBef>
              <a:buNone/>
            </a:pPr>
            <a:r>
              <a:rPr sz="1300" b="0" i="0">
                <a:solidFill>
                  <a:srgbClr val="5B6B6B"/>
                </a:solidFill>
                <a:latin typeface="Calibri"/>
              </a:rPr>
              <a:t>Jedes Header-Byte fehlt der Nutzlast. Ein Byte weniger verschiebt alle Blockgrenzen und kann einen ganzen Round Trip sparen.</a:t>
            </a:r>
          </a:p>
          <a:p>
            <a:pPr marL="457200" indent="-330200">
              <a:spcBef>
                <a:spcPts val="900"/>
              </a:spcBef>
              <a:buClr>
                <a:srgbClr val="0F2E2E"/>
              </a:buClr>
              <a:buSzPts val="1400"/>
              <a:buFont typeface="Calibri"/>
              <a:buChar char="●"/>
            </a:pPr>
            <a:r>
              <a:rPr sz="1500" b="1" i="0">
                <a:solidFill>
                  <a:srgbClr val="0F2E2E"/>
                </a:solidFill>
                <a:latin typeface="Calibri"/>
              </a:rPr>
              <a:t>Erwartung</a:t>
            </a:r>
          </a:p>
          <a:p>
            <a:pPr marL="457200" indent="0">
              <a:spcBef>
                <a:spcPts val="100"/>
              </a:spcBef>
              <a:buNone/>
            </a:pPr>
            <a:r>
              <a:rPr sz="1300" b="0" i="0">
                <a:solidFill>
                  <a:srgbClr val="5B6B6B"/>
                </a:solidFill>
                <a:latin typeface="Calibri"/>
              </a:rPr>
              <a:t>Die Rahmung wirkt stärker auf die Zahl der Übertragungen als das Format.</a:t>
            </a:r>
          </a:p>
        </p:txBody>
      </p:sp>
      <p:sp>
        <p:nvSpPr>
          <p:cNvPr id="4" name="TextBox 3"/>
          <p:cNvSpPr txBox="1"/>
          <p:nvPr/>
        </p:nvSpPr>
        <p:spPr>
          <a:xfrm>
            <a:off x="5200000" y="1250000"/>
            <a:ext cx="3250000" cy="2700000"/>
          </a:xfrm>
          <a:prstGeom prst="rect">
            <a:avLst/>
          </a:prstGeom>
          <a:solidFill>
            <a:srgbClr val="F3F3F3"/>
          </a:solidFill>
        </p:spPr>
        <p:txBody>
          <a:bodyPr wrap="square" lIns="91425" rIns="91425" tIns="70000" bIns="70000">
            <a:spAutoFit/>
          </a:bodyPr>
          <a:lstStyle/>
          <a:p>
            <a:r>
              <a:rPr sz="1200" b="0" i="0">
                <a:solidFill>
                  <a:srgbClr val="0F2E2E"/>
                </a:solidFill>
                <a:latin typeface="Courier New"/>
              </a:rPr>
              <a:t>P = MTU - H</a:t>
            </a:r>
          </a:p>
          <a:p>
            <a:r>
              <a:rPr sz="1200" b="0" i="0">
                <a:solidFill>
                  <a:srgbClr val="0F2E2E"/>
                </a:solidFill>
                <a:latin typeface="Courier New"/>
              </a:rPr>
              <a:t>b = ceil(log2(P + 1))</a:t>
            </a:r>
          </a:p>
          <a:p>
            <a:r>
              <a:rPr sz="1200" b="0" i="0">
                <a:solidFill>
                  <a:srgbClr val="0F2E2E"/>
                </a:solidFill>
                <a:latin typeface="Courier New"/>
              </a:rPr>
              <a:t> </a:t>
            </a:r>
          </a:p>
          <a:p>
            <a:r>
              <a:rPr sz="1200" b="0" i="0">
                <a:solidFill>
                  <a:srgbClr val="0F2E2E"/>
                </a:solidFill>
                <a:latin typeface="Courier New"/>
              </a:rPr>
              <a:t>N = ceil(L / P)</a:t>
            </a:r>
          </a:p>
          <a:p>
            <a:r>
              <a:rPr sz="1200" b="0" i="0">
                <a:solidFill>
                  <a:srgbClr val="0F2E2E"/>
                </a:solidFill>
                <a:latin typeface="Courier New"/>
              </a:rPr>
              <a:t>eta = L / (N * MTU)</a:t>
            </a:r>
          </a:p>
          <a:p>
            <a:r>
              <a:rPr sz="1200" b="0" i="0">
                <a:solidFill>
                  <a:srgbClr val="0F2E2E"/>
                </a:solidFill>
                <a:latin typeface="Courier New"/>
              </a:rPr>
              <a:t> </a:t>
            </a:r>
          </a:p>
          <a:p>
            <a:r>
              <a:rPr sz="1200" b="0" i="0">
                <a:solidFill>
                  <a:srgbClr val="0F2E2E"/>
                </a:solidFill>
                <a:latin typeface="Courier New"/>
              </a:rPr>
              <a:t>P: Nutzlast je Frame</a:t>
            </a:r>
          </a:p>
          <a:p>
            <a:r>
              <a:rPr sz="1200" b="0" i="0">
                <a:solidFill>
                  <a:srgbClr val="0F2E2E"/>
                </a:solidFill>
                <a:latin typeface="Courier New"/>
              </a:rPr>
              <a:t>b: Breite des Längenfelds</a:t>
            </a:r>
          </a:p>
          <a:p>
            <a:r>
              <a:rPr sz="1200" b="0" i="0">
                <a:solidFill>
                  <a:srgbClr val="0F2E2E"/>
                </a:solidFill>
                <a:latin typeface="Courier New"/>
              </a:rPr>
              <a:t>N: Anzahl der Frames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Fragmentierung und Rekonstruktion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Wann ist eine Nachricht vollständig?</a:t>
            </a:r>
          </a:p>
          <a:p>
            <a:pPr marL="457200" indent="0">
              <a:spcBef>
                <a:spcPts val="100"/>
              </a:spcBef>
              <a:buNone/>
            </a:pPr>
            <a:r>
              <a:rPr sz="1300" b="0" i="0">
                <a:solidFill>
                  <a:srgbClr val="5B6B6B"/>
                </a:solidFill>
                <a:latin typeface="Calibri"/>
              </a:rPr>
              <a:t>Endmarkierung an Position n bedeutet n+1 Blöcke. Vollständig, sobald jede Position 0..n mindestens einmal eingetroffen ist.</a:t>
            </a:r>
          </a:p>
          <a:p>
            <a:pPr marL="457200" indent="-330200">
              <a:spcBef>
                <a:spcPts val="900"/>
              </a:spcBef>
              <a:buClr>
                <a:srgbClr val="0F2E2E"/>
              </a:buClr>
              <a:buSzPts val="1400"/>
              <a:buFont typeface="Calibri"/>
              <a:buChar char="●"/>
            </a:pPr>
            <a:r>
              <a:rPr sz="1500" b="1" i="0">
                <a:solidFill>
                  <a:srgbClr val="0F2E2E"/>
                </a:solidFill>
                <a:latin typeface="Calibri"/>
              </a:rPr>
              <a:t>Wiederholungen</a:t>
            </a:r>
          </a:p>
          <a:p>
            <a:pPr marL="457200" indent="0">
              <a:spcBef>
                <a:spcPts val="100"/>
              </a:spcBef>
              <a:buNone/>
            </a:pPr>
            <a:r>
              <a:rPr sz="1300" b="0" i="0">
                <a:solidFill>
                  <a:srgbClr val="5B6B6B"/>
                </a:solidFill>
                <a:latin typeface="Calibri"/>
              </a:rPr>
              <a:t>Ein wiederholter Block hat denselben Inhalt; die Rekonstruktion verwirft Blöcke, deren Position schon vorliegt (idempotent).</a:t>
            </a:r>
          </a:p>
          <a:p>
            <a:pPr marL="457200" indent="-330200">
              <a:spcBef>
                <a:spcPts val="900"/>
              </a:spcBef>
              <a:buClr>
                <a:srgbClr val="0F2E2E"/>
              </a:buClr>
              <a:buSzPts val="1400"/>
              <a:buFont typeface="Calibri"/>
              <a:buChar char="●"/>
            </a:pPr>
            <a:r>
              <a:rPr sz="1500" b="1" i="0">
                <a:solidFill>
                  <a:srgbClr val="0F2E2E"/>
                </a:solidFill>
                <a:latin typeface="Calibri"/>
              </a:rPr>
              <a:t>Abgebrochene Übertragung</a:t>
            </a:r>
          </a:p>
          <a:p>
            <a:pPr marL="457200" indent="0">
              <a:spcBef>
                <a:spcPts val="100"/>
              </a:spcBef>
              <a:buNone/>
            </a:pPr>
            <a:r>
              <a:rPr sz="1300" b="0" i="0">
                <a:solidFill>
                  <a:srgbClr val="5B6B6B"/>
                </a:solidFill>
                <a:latin typeface="Calibri"/>
              </a:rPr>
              <a:t>Erkennbar erst an Position 0 einer neuen Nachricht. Entscheidung: Reste verwerfen, es ist ohnehin nur eine Nachricht unterwegs.</a:t>
            </a:r>
          </a:p>
          <a:p>
            <a:pPr marL="457200" indent="-330200">
              <a:spcBef>
                <a:spcPts val="900"/>
              </a:spcBef>
              <a:buClr>
                <a:srgbClr val="0F2E2E"/>
              </a:buClr>
              <a:buSzPts val="1400"/>
              <a:buFont typeface="Calibri"/>
              <a:buChar char="●"/>
            </a:pPr>
            <a:r>
              <a:rPr sz="1500" b="1" i="0">
                <a:solidFill>
                  <a:srgbClr val="0F2E2E"/>
                </a:solidFill>
                <a:latin typeface="Calibri"/>
              </a:rPr>
              <a:t>Speicher (K5)</a:t>
            </a:r>
          </a:p>
          <a:p>
            <a:pPr marL="457200" indent="0">
              <a:spcBef>
                <a:spcPts val="100"/>
              </a:spcBef>
              <a:buNone/>
            </a:pPr>
            <a:r>
              <a:rPr sz="1300" b="0" i="0">
                <a:solidFill>
                  <a:srgbClr val="5B6B6B"/>
                </a:solidFill>
                <a:latin typeface="Calibri"/>
              </a:rPr>
              <a:t>Obergrenze L_max = 2^b_pos · P folgt aus der Positionsbreite und ist die Puffergröße der Gegenseite.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Serialisierung - drei Kriterien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600" b="1" i="0">
                <a:solidFill>
                  <a:srgbClr val="0F2E2E"/>
                </a:solidFill>
                <a:latin typeface="Calibri"/>
              </a:rPr>
              <a:t>Kompakt</a:t>
            </a:r>
          </a:p>
          <a:p>
            <a:pPr marL="457200" indent="0">
              <a:spcBef>
                <a:spcPts val="100"/>
              </a:spcBef>
              <a:buNone/>
            </a:pPr>
            <a:r>
              <a:rPr sz="1600" b="0" i="0">
                <a:solidFill>
                  <a:srgbClr val="5B6B6B"/>
                </a:solidFill>
                <a:latin typeface="Calibri"/>
              </a:rPr>
              <a:t>Die Länge der Nutzlast bestimmt nach N = ⌈L/P⌉ die Anzahl der Übertragungen.</a:t>
            </a:r>
          </a:p>
          <a:p>
            <a:pPr marL="457200" indent="-330200">
              <a:spcBef>
                <a:spcPts val="900"/>
              </a:spcBef>
              <a:buClr>
                <a:srgbClr val="0F2E2E"/>
              </a:buClr>
              <a:buSzPts val="1400"/>
              <a:buFont typeface="Calibri"/>
              <a:buChar char="●"/>
            </a:pPr>
            <a:r>
              <a:rPr sz="1600" b="1" i="0">
                <a:solidFill>
                  <a:srgbClr val="0F2E2E"/>
                </a:solidFill>
                <a:latin typeface="Calibri"/>
              </a:rPr>
              <a:t>Schemafrei</a:t>
            </a:r>
          </a:p>
          <a:p>
            <a:pPr marL="457200" indent="0">
              <a:spcBef>
                <a:spcPts val="100"/>
              </a:spcBef>
              <a:buNone/>
            </a:pPr>
            <a:r>
              <a:rPr sz="1600" b="0" i="0">
                <a:solidFill>
                  <a:srgbClr val="5B6B6B"/>
                </a:solidFill>
                <a:latin typeface="Calibri"/>
              </a:rPr>
              <a:t>Objekte und Methoden ändern sich während der Entwicklung; ein Schema würde einen Übersetzungsschritt einführen.</a:t>
            </a:r>
          </a:p>
          <a:p>
            <a:pPr marL="457200" indent="-330200">
              <a:spcBef>
                <a:spcPts val="900"/>
              </a:spcBef>
              <a:buClr>
                <a:srgbClr val="0F2E2E"/>
              </a:buClr>
              <a:buSzPts val="1400"/>
              <a:buFont typeface="Calibri"/>
              <a:buChar char="●"/>
            </a:pPr>
            <a:r>
              <a:rPr sz="1600" b="1" i="0">
                <a:solidFill>
                  <a:srgbClr val="0F2E2E"/>
                </a:solidFill>
                <a:latin typeface="Calibri"/>
              </a:rPr>
              <a:t>Kleiner Decoder</a:t>
            </a:r>
          </a:p>
          <a:p>
            <a:pPr marL="457200" indent="0">
              <a:spcBef>
                <a:spcPts val="100"/>
              </a:spcBef>
              <a:buNone/>
            </a:pPr>
            <a:r>
              <a:rPr sz="1600" b="0" i="0">
                <a:solidFill>
                  <a:srgbClr val="5B6B6B"/>
                </a:solidFill>
                <a:latin typeface="Calibri"/>
              </a:rPr>
              <a:t>Er läuft auf beiden Seiten, beide sind Mikrocontroller (K5 gilt auch für die Bibliothek).</a:t>
            </a:r>
          </a:p>
          <a:p>
            <a:pPr marL="0" indent="0">
              <a:spcBef>
                <a:spcPts val="900"/>
              </a:spcBef>
              <a:buNone/>
            </a:pPr>
            <a:r>
              <a:rPr sz="1600" b="0" i="1">
                <a:solidFill>
                  <a:srgbClr val="5B6B6B"/>
                </a:solidFill>
                <a:latin typeface="Calibri"/>
              </a:rPr>
              <a:t>Welches Format die Bedingungen erfüllt, zeigt die Referenzimplementierung.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Zuverlässigkeit - Stop-and-Wait</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Stop-and-Wait</a:t>
            </a:r>
          </a:p>
          <a:p>
            <a:pPr marL="457200" indent="0">
              <a:spcBef>
                <a:spcPts val="100"/>
              </a:spcBef>
              <a:buNone/>
            </a:pPr>
            <a:r>
              <a:rPr sz="1300" b="0" i="0">
                <a:solidFill>
                  <a:srgbClr val="5B6B6B"/>
                </a:solidFill>
                <a:latin typeface="Calibri"/>
              </a:rPr>
              <a:t>Block senden, auf Bestätigung warten, sonst wiederholen. Fenster-Verfahren sind nicht möglich: nie mehr als ein Block unterwegs.</a:t>
            </a:r>
          </a:p>
          <a:p>
            <a:pPr marL="457200" indent="-330200">
              <a:spcBef>
                <a:spcPts val="900"/>
              </a:spcBef>
              <a:buClr>
                <a:srgbClr val="0F2E2E"/>
              </a:buClr>
              <a:buSzPts val="1400"/>
              <a:buFont typeface="Calibri"/>
              <a:buChar char="●"/>
            </a:pPr>
            <a:r>
              <a:rPr sz="1500" b="1" i="0">
                <a:solidFill>
                  <a:srgbClr val="0F2E2E"/>
                </a:solidFill>
                <a:latin typeface="Calibri"/>
              </a:rPr>
              <a:t>Obergrenzen</a:t>
            </a:r>
          </a:p>
          <a:p>
            <a:pPr marL="457200" indent="0">
              <a:spcBef>
                <a:spcPts val="100"/>
              </a:spcBef>
              <a:buNone/>
            </a:pPr>
            <a:r>
              <a:rPr sz="1300" b="0" i="0">
                <a:solidFill>
                  <a:srgbClr val="5B6B6B"/>
                </a:solidFill>
                <a:latin typeface="Calibri"/>
              </a:rPr>
              <a:t>Für Wiederholungen und für das Abholen des Ergebnisses, sonst wartet der Client endlos.</a:t>
            </a:r>
          </a:p>
          <a:p>
            <a:pPr marL="457200" indent="-330200">
              <a:spcBef>
                <a:spcPts val="900"/>
              </a:spcBef>
              <a:buClr>
                <a:srgbClr val="0F2E2E"/>
              </a:buClr>
              <a:buSzPts val="1400"/>
              <a:buFont typeface="Calibri"/>
              <a:buChar char="●"/>
            </a:pPr>
            <a:r>
              <a:rPr sz="1500" b="1" i="0">
                <a:solidFill>
                  <a:srgbClr val="0F2E2E"/>
                </a:solidFill>
                <a:latin typeface="Calibri"/>
              </a:rPr>
              <a:t>Jeder Aufruf hinterlässt etwas</a:t>
            </a:r>
          </a:p>
          <a:p>
            <a:pPr marL="457200" indent="0">
              <a:spcBef>
                <a:spcPts val="100"/>
              </a:spcBef>
              <a:buNone/>
            </a:pPr>
            <a:r>
              <a:rPr sz="1300" b="0" i="0">
                <a:solidFill>
                  <a:srgbClr val="5B6B6B"/>
                </a:solidFill>
                <a:latin typeface="Calibri"/>
              </a:rPr>
              <a:t>Ein Ergebnis oder eine Fehlermeldung, auch wenn die Ausführung scheitert.</a:t>
            </a:r>
          </a:p>
          <a:p>
            <a:pPr marL="457200" indent="-330200">
              <a:spcBef>
                <a:spcPts val="900"/>
              </a:spcBef>
              <a:buClr>
                <a:srgbClr val="0F2E2E"/>
              </a:buClr>
              <a:buSzPts val="1400"/>
              <a:buFont typeface="Calibri"/>
              <a:buChar char="●"/>
            </a:pPr>
            <a:r>
              <a:rPr sz="1500" b="1" i="0">
                <a:solidFill>
                  <a:srgbClr val="0F2E2E"/>
                </a:solidFill>
                <a:latin typeface="Calibri"/>
              </a:rPr>
              <a:t>At-most-once</a:t>
            </a:r>
          </a:p>
          <a:p>
            <a:pPr marL="457200" indent="0">
              <a:spcBef>
                <a:spcPts val="100"/>
              </a:spcBef>
              <a:buNone/>
            </a:pPr>
            <a:r>
              <a:rPr sz="1300" b="0" i="0">
                <a:solidFill>
                  <a:srgbClr val="5B6B6B"/>
                </a:solidFill>
                <a:latin typeface="Calibri"/>
              </a:rPr>
              <a:t>Wiederholter Block wird verworfen, wiederholter letzter Block löst keine zweite Ausführung aus.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Kommunikationsschicht - der entfernte Aufruf</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Aufrufnachricht</a:t>
            </a:r>
          </a:p>
          <a:p>
            <a:pPr marL="457200" indent="0">
              <a:spcBef>
                <a:spcPts val="100"/>
              </a:spcBef>
              <a:buNone/>
            </a:pPr>
            <a:r>
              <a:rPr sz="1200" b="0" i="0">
                <a:solidFill>
                  <a:srgbClr val="5B6B6B"/>
                </a:solidFill>
                <a:latin typeface="Calibri"/>
              </a:rPr>
              <a:t>Methodenkennung fester Länge (aus dem Namen berechnet), Argumente nach Position, Scope. Keine Typangaben: Fehler zeigen sich erst zur Laufzeit.</a:t>
            </a:r>
          </a:p>
          <a:p>
            <a:pPr marL="457200" indent="-330200">
              <a:spcBef>
                <a:spcPts val="900"/>
              </a:spcBef>
              <a:buClr>
                <a:srgbClr val="0F2E2E"/>
              </a:buClr>
              <a:buSzPts val="1400"/>
              <a:buFont typeface="Calibri"/>
              <a:buChar char="●"/>
            </a:pPr>
            <a:r>
              <a:rPr sz="1400" b="1" i="0">
                <a:solidFill>
                  <a:srgbClr val="0F2E2E"/>
                </a:solidFill>
                <a:latin typeface="Calibri"/>
              </a:rPr>
              <a:t>Anfrage und Antwort</a:t>
            </a:r>
          </a:p>
          <a:p>
            <a:pPr marL="457200" indent="0">
              <a:spcBef>
                <a:spcPts val="100"/>
              </a:spcBef>
              <a:buNone/>
            </a:pPr>
            <a:r>
              <a:rPr sz="1200" b="0" i="0">
                <a:solidFill>
                  <a:srgbClr val="5B6B6B"/>
                </a:solidFill>
                <a:latin typeface="Calibri"/>
              </a:rPr>
              <a:t>Ein Aufruf ist eine Nachricht; die Kennung stammt aus dem Frame-Header, das spart Übertragungen.</a:t>
            </a:r>
          </a:p>
          <a:p>
            <a:pPr marL="457200" indent="-330200">
              <a:spcBef>
                <a:spcPts val="900"/>
              </a:spcBef>
              <a:buClr>
                <a:srgbClr val="0F2E2E"/>
              </a:buClr>
              <a:buSzPts val="1400"/>
              <a:buFont typeface="Calibri"/>
              <a:buChar char="●"/>
            </a:pPr>
            <a:r>
              <a:rPr sz="1400" b="1" i="0">
                <a:solidFill>
                  <a:srgbClr val="0F2E2E"/>
                </a:solidFill>
                <a:latin typeface="Calibri"/>
              </a:rPr>
              <a:t>Verteilung</a:t>
            </a:r>
          </a:p>
          <a:p>
            <a:pPr marL="457200" indent="0">
              <a:spcBef>
                <a:spcPts val="100"/>
              </a:spcBef>
              <a:buNone/>
            </a:pPr>
            <a:r>
              <a:rPr sz="1200" b="0" i="0">
                <a:solidFill>
                  <a:srgbClr val="5B6B6B"/>
                </a:solidFill>
                <a:latin typeface="Calibri"/>
              </a:rPr>
              <a:t>Zweistufig: Scope wählt den Empfänger, dann die Methode. Referenz des Objekts reist als Argument. Unbekannter Scope wird mit Fehlermeldung beantwortet.</a:t>
            </a:r>
          </a:p>
          <a:p>
            <a:pPr marL="457200" indent="-330200">
              <a:spcBef>
                <a:spcPts val="900"/>
              </a:spcBef>
              <a:buClr>
                <a:srgbClr val="0F2E2E"/>
              </a:buClr>
              <a:buSzPts val="1400"/>
              <a:buFont typeface="Calibri"/>
              <a:buChar char="●"/>
            </a:pPr>
            <a:r>
              <a:rPr sz="1400" b="1" i="0">
                <a:solidFill>
                  <a:srgbClr val="0F2E2E"/>
                </a:solidFill>
                <a:latin typeface="Calibri"/>
              </a:rPr>
              <a:t>Rückkanal</a:t>
            </a:r>
          </a:p>
          <a:p>
            <a:pPr marL="457200" indent="0">
              <a:spcBef>
                <a:spcPts val="100"/>
              </a:spcBef>
              <a:buNone/>
            </a:pPr>
            <a:r>
              <a:rPr sz="1200" b="0" i="0">
                <a:solidFill>
                  <a:srgbClr val="5B6B6B"/>
                </a:solidFill>
                <a:latin typeface="Calibri"/>
              </a:rPr>
              <a:t>Der Server kann ein Ergebnis nur bereithalten. Ereignisse muss der Client regelmäßig abfragen; häufiger abfragen verkürzt die Verzögerung, kostet aber Übertragungen.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0" i="0">
                <a:solidFill>
                  <a:srgbClr val="0F2E2E"/>
                </a:solidFill>
                <a:latin typeface="Calibri"/>
              </a:rPr>
              <a:t>Referenzimplementierung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Laufzeitumgebungen und Module</a:t>
            </a:r>
          </a:p>
        </p:txBody>
      </p:sp>
      <p:sp>
        <p:nvSpPr>
          <p:cNvPr id="3" name="Text Placeholder 2"/>
          <p:cNvSpPr>
            <a:spLocks noGrp="1"/>
          </p:cNvSpPr>
          <p:nvPr>
            <p:ph type="body" idx="1"/>
          </p:nvPr>
        </p:nvSpPr>
        <p:spPr>
          <a:xfrm>
            <a:off x="311700" y="1152475"/>
            <a:ext cx="37000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Hub - Pybricks</a:t>
            </a:r>
          </a:p>
          <a:p>
            <a:pPr marL="457200" indent="0">
              <a:spcBef>
                <a:spcPts val="100"/>
              </a:spcBef>
              <a:buNone/>
            </a:pPr>
            <a:r>
              <a:rPr sz="1300" b="0" i="0">
                <a:solidFill>
                  <a:srgbClr val="5B6B6B"/>
                </a:solidFill>
                <a:latin typeface="Calibri"/>
              </a:rPr>
              <a:t>Ganzzahlen &lt; 2³⁰, keine Threads, nur einzelne Dateien.</a:t>
            </a:r>
          </a:p>
          <a:p>
            <a:pPr marL="457200" indent="-330200">
              <a:spcBef>
                <a:spcPts val="900"/>
              </a:spcBef>
              <a:buClr>
                <a:srgbClr val="0F2E2E"/>
              </a:buClr>
              <a:buSzPts val="1400"/>
              <a:buFont typeface="Calibri"/>
              <a:buChar char="●"/>
            </a:pPr>
            <a:r>
              <a:rPr sz="1500" b="1" i="0">
                <a:solidFill>
                  <a:srgbClr val="0F2E2E"/>
                </a:solidFill>
                <a:latin typeface="Calibri"/>
              </a:rPr>
              <a:t>ESP32 - MicroPython + LVGL</a:t>
            </a:r>
          </a:p>
          <a:p>
            <a:pPr marL="457200" indent="0">
              <a:spcBef>
                <a:spcPts val="100"/>
              </a:spcBef>
              <a:buNone/>
            </a:pPr>
            <a:r>
              <a:rPr sz="1300" b="0" i="0">
                <a:solidFill>
                  <a:srgbClr val="5B6B6B"/>
                </a:solidFill>
                <a:latin typeface="Calibri"/>
              </a:rPr>
              <a:t>Umfangreich, aber Heap knapp. Gemeinsamer Code richtet sich nach Pybricks.</a:t>
            </a:r>
          </a:p>
          <a:p>
            <a:pPr marL="457200" indent="-330200">
              <a:spcBef>
                <a:spcPts val="900"/>
              </a:spcBef>
              <a:buClr>
                <a:srgbClr val="0F2E2E"/>
              </a:buClr>
              <a:buSzPts val="1400"/>
              <a:buFont typeface="Calibri"/>
              <a:buChar char="●"/>
            </a:pPr>
            <a:r>
              <a:rPr sz="1500" b="1" i="0">
                <a:solidFill>
                  <a:srgbClr val="0F2E2E"/>
                </a:solidFill>
                <a:latin typeface="Calibri"/>
              </a:rPr>
              <a:t>Bundler</a:t>
            </a:r>
          </a:p>
          <a:p>
            <a:pPr marL="457200" indent="0">
              <a:spcBef>
                <a:spcPts val="100"/>
              </a:spcBef>
              <a:buNone/>
            </a:pPr>
            <a:r>
              <a:rPr sz="1300" b="0" i="0">
                <a:solidFill>
                  <a:srgbClr val="5B6B6B"/>
                </a:solidFill>
                <a:latin typeface="Calibri"/>
              </a:rPr>
              <a:t>tools/bundler.py erzeugt pybricks_bundle.py.</a:t>
            </a:r>
          </a:p>
        </p:txBody>
      </p:sp>
      <p:graphicFrame>
        <p:nvGraphicFramePr>
          <p:cNvPr id="4" name="Table 3"/>
          <p:cNvGraphicFramePr>
            <a:graphicFrameLocks noGrp="1"/>
          </p:cNvGraphicFramePr>
          <p:nvPr/>
        </p:nvGraphicFramePr>
        <p:xfrm>
          <a:off x="4150000" y="1250000"/>
          <a:ext cx="4300000" cy="2520000"/>
        </p:xfrm>
        <a:graphic>
          <a:graphicData uri="http://schemas.openxmlformats.org/drawingml/2006/table">
            <a:tbl>
              <a:tblPr firstRow="0" bandRow="0">
                <a:tableStyleId>{2D5ABB26-0587-4C30-8999-92F81FD0307C}</a:tableStyleId>
              </a:tblPr>
              <a:tblGrid>
                <a:gridCol w="1505000"/>
                <a:gridCol w="2795000"/>
              </a:tblGrid>
              <a:tr h="420000">
                <a:tc>
                  <a:txBody>
                    <a:bodyPr wrap="square"/>
                    <a:lstStyle/>
                    <a:p>
                      <a:r>
                        <a:rPr sz="1100" b="1" i="0">
                          <a:solidFill>
                            <a:srgbClr val="FFFFFF"/>
                          </a:solidFill>
                          <a:latin typeface="Calibri"/>
                        </a:rPr>
                        <a:t>Schicht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100" b="1" i="0">
                          <a:solidFill>
                            <a:srgbClr val="FFFFFF"/>
                          </a:solidFill>
                          <a:latin typeface="Calibri"/>
                        </a:rPr>
                        <a:t>Module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420000">
                <a:tc>
                  <a:txBody>
                    <a:bodyPr wrap="square"/>
                    <a:lstStyle/>
                    <a:p>
                      <a:r>
                        <a:rPr sz="1100" b="1" i="0">
                          <a:solidFill>
                            <a:srgbClr val="0F2E2E"/>
                          </a:solidFill>
                          <a:latin typeface="Calibri"/>
                        </a:rPr>
                        <a:t>Anwendung/Anzeige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100" b="0" i="0">
                          <a:solidFill>
                            <a:srgbClr val="0F2E2E"/>
                          </a:solidFill>
                          <a:latin typeface="Calibri"/>
                        </a:rPr>
                        <a:t>hub/main.py, display/server/driver/</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420000">
                <a:tc>
                  <a:txBody>
                    <a:bodyPr wrap="square"/>
                    <a:lstStyle/>
                    <a:p>
                      <a:r>
                        <a:rPr sz="1100" b="1" i="0">
                          <a:solidFill>
                            <a:srgbClr val="0F2E2E"/>
                          </a:solidFill>
                          <a:latin typeface="Calibri"/>
                        </a:rPr>
                        <a:t>Objektmodell</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100" b="0" i="0">
                          <a:solidFill>
                            <a:srgbClr val="0F2E2E"/>
                          </a:solidFill>
                          <a:latin typeface="Calibri"/>
                        </a:rPr>
                        <a:t>display/protocol, client, server, registry.py</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420000">
                <a:tc>
                  <a:txBody>
                    <a:bodyPr wrap="square"/>
                    <a:lstStyle/>
                    <a:p>
                      <a:r>
                        <a:rPr sz="1100" b="1" i="0">
                          <a:solidFill>
                            <a:srgbClr val="0F2E2E"/>
                          </a:solidFill>
                          <a:latin typeface="Calibri"/>
                        </a:rPr>
                        <a:t>Kommunikation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100" b="0" i="0">
                          <a:solidFill>
                            <a:srgbClr val="0F2E2E"/>
                          </a:solidFill>
                          <a:latin typeface="Calibri"/>
                        </a:rPr>
                        <a:t>dispatcher.py, names.py, errors.py</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420000">
                <a:tc>
                  <a:txBody>
                    <a:bodyPr wrap="square"/>
                    <a:lstStyle/>
                    <a:p>
                      <a:r>
                        <a:rPr sz="1100" b="1" i="0">
                          <a:solidFill>
                            <a:srgbClr val="0F2E2E"/>
                          </a:solidFill>
                          <a:latin typeface="Calibri"/>
                        </a:rPr>
                        <a:t>Transport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100" b="0" i="0">
                          <a:solidFill>
                            <a:srgbClr val="0F2E2E"/>
                          </a:solidFill>
                          <a:latin typeface="Calibri"/>
                        </a:rPr>
                        <a:t>frame.py, message.py, codec.py</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420000">
                <a:tc>
                  <a:txBody>
                    <a:bodyPr wrap="square"/>
                    <a:lstStyle/>
                    <a:p>
                      <a:r>
                        <a:rPr sz="1100" b="1" i="0">
                          <a:solidFill>
                            <a:srgbClr val="0F2E2E"/>
                          </a:solidFill>
                          <a:latin typeface="Calibri"/>
                        </a:rPr>
                        <a:t>Busanbindung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100" b="0" i="0">
                          <a:solidFill>
                            <a:srgbClr val="0F2E2E"/>
                          </a:solidFill>
                          <a:latin typeface="Calibri"/>
                        </a:rPr>
                        <a:t>transport/base.py, pupremote/binding.py</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Busanbindung - PUPRemote, ein Kommando</a:t>
            </a:r>
          </a:p>
        </p:txBody>
      </p:sp>
      <p:sp>
        <p:nvSpPr>
          <p:cNvPr id="3" name="Text Placeholder 2"/>
          <p:cNvSpPr>
            <a:spLocks noGrp="1"/>
          </p:cNvSpPr>
          <p:nvPr>
            <p:ph type="body" idx="1"/>
          </p:nvPr>
        </p:nvSpPr>
        <p:spPr>
          <a:xfrm>
            <a:off x="311700" y="1152475"/>
            <a:ext cx="43000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PUPRemote 1.6</a:t>
            </a:r>
          </a:p>
          <a:p>
            <a:pPr marL="457200" indent="0">
              <a:spcBef>
                <a:spcPts val="100"/>
              </a:spcBef>
              <a:buNone/>
            </a:pPr>
            <a:r>
              <a:rPr sz="1200" b="0" i="0">
                <a:solidFill>
                  <a:srgbClr val="5B6B6B"/>
                </a:solidFill>
                <a:latin typeface="Calibri"/>
              </a:rPr>
              <a:t>Client: PUPRemoteHub, Server: PUPRemoteSensor. Der ESP32 gibt sich als Ultraschallsensor aus.</a:t>
            </a:r>
          </a:p>
          <a:p>
            <a:pPr marL="457200" indent="-330200">
              <a:spcBef>
                <a:spcPts val="900"/>
              </a:spcBef>
              <a:buClr>
                <a:srgbClr val="0F2E2E"/>
              </a:buClr>
              <a:buSzPts val="1400"/>
              <a:buFont typeface="Calibri"/>
              <a:buChar char="●"/>
            </a:pPr>
            <a:r>
              <a:rPr sz="1400" b="1" i="0">
                <a:solidFill>
                  <a:srgbClr val="0F2E2E"/>
                </a:solidFill>
                <a:latin typeface="Calibri"/>
              </a:rPr>
              <a:t>Ein Kommando</a:t>
            </a:r>
          </a:p>
          <a:p>
            <a:pPr marL="457200" indent="0">
              <a:spcBef>
                <a:spcPts val="100"/>
              </a:spcBef>
              <a:buNone/>
            </a:pPr>
            <a:r>
              <a:rPr sz="1200" b="0" i="0">
                <a:solidFill>
                  <a:srgbClr val="5B6B6B"/>
                </a:solidFill>
                <a:latin typeface="Calibri"/>
              </a:rPr>
              <a:t>xfer: 16 Byte in beide Richtungen, ohne Struktur für PUPRemote.</a:t>
            </a:r>
          </a:p>
          <a:p>
            <a:pPr marL="457200" indent="-330200">
              <a:spcBef>
                <a:spcPts val="900"/>
              </a:spcBef>
              <a:buClr>
                <a:srgbClr val="0F2E2E"/>
              </a:buClr>
              <a:buSzPts val="1400"/>
              <a:buFont typeface="Calibri"/>
              <a:buChar char="●"/>
            </a:pPr>
            <a:r>
              <a:rPr sz="1400" b="1" i="0">
                <a:solidFill>
                  <a:srgbClr val="0F2E2E"/>
                </a:solidFill>
                <a:latin typeface="Calibri"/>
              </a:rPr>
              <a:t>Grenzen</a:t>
            </a:r>
          </a:p>
          <a:p>
            <a:pPr marL="457200" indent="0">
              <a:spcBef>
                <a:spcPts val="100"/>
              </a:spcBef>
              <a:buNone/>
            </a:pPr>
            <a:r>
              <a:rPr sz="1200" b="0" i="0">
                <a:solidFill>
                  <a:srgbClr val="5B6B6B"/>
                </a:solidFill>
                <a:latin typeface="Calibri"/>
              </a:rPr>
              <a:t>Blockgröße max. 16 Byte, Kommandonamen höchstens 5 Zeichen.</a:t>
            </a:r>
          </a:p>
          <a:p>
            <a:pPr marL="457200" indent="-330200">
              <a:spcBef>
                <a:spcPts val="900"/>
              </a:spcBef>
              <a:buClr>
                <a:srgbClr val="0F2E2E"/>
              </a:buClr>
              <a:buSzPts val="1400"/>
              <a:buFont typeface="Calibri"/>
              <a:buChar char="●"/>
            </a:pPr>
            <a:r>
              <a:rPr sz="1400" b="1" i="0">
                <a:solidFill>
                  <a:srgbClr val="0F2E2E"/>
                </a:solidFill>
                <a:latin typeface="Calibri"/>
              </a:rPr>
              <a:t>Veraltete Antwort</a:t>
            </a:r>
          </a:p>
          <a:p>
            <a:pPr marL="457200" indent="0">
              <a:spcBef>
                <a:spcPts val="100"/>
              </a:spcBef>
              <a:buNone/>
            </a:pPr>
            <a:r>
              <a:rPr sz="1200" b="0" i="0">
                <a:solidFill>
                  <a:srgbClr val="5B6B6B"/>
                </a:solidFill>
                <a:latin typeface="Calibri"/>
              </a:rPr>
              <a:t>Lesen ohne Wartezeit liefert ggf. die vorige Antwort. Erkennung über Position und Art des Frames.</a:t>
            </a:r>
          </a:p>
        </p:txBody>
      </p:sp>
      <p:sp>
        <p:nvSpPr>
          <p:cNvPr id="4" name="TextBox 3"/>
          <p:cNvSpPr txBox="1"/>
          <p:nvPr/>
        </p:nvSpPr>
        <p:spPr>
          <a:xfrm>
            <a:off x="4800000" y="1250000"/>
            <a:ext cx="3650000" cy="2300000"/>
          </a:xfrm>
          <a:prstGeom prst="rect">
            <a:avLst/>
          </a:prstGeom>
          <a:solidFill>
            <a:srgbClr val="F3F3F3"/>
          </a:solidFill>
        </p:spPr>
        <p:txBody>
          <a:bodyPr wrap="square" lIns="91425" rIns="91425" tIns="70000" bIns="70000">
            <a:spAutoFit/>
          </a:bodyPr>
          <a:lstStyle/>
          <a:p>
            <a:r>
              <a:rPr sz="1000" b="0" i="0">
                <a:solidFill>
                  <a:srgbClr val="0F2E2E"/>
                </a:solidFill>
                <a:latin typeface="Courier New"/>
              </a:rPr>
              <a:t>COMMAND = "xfer"</a:t>
            </a:r>
          </a:p>
          <a:p>
            <a:r>
              <a:rPr sz="1000" b="0" i="0">
                <a:solidFill>
                  <a:srgbClr val="0F2E2E"/>
                </a:solidFill>
                <a:latin typeface="Courier New"/>
              </a:rPr>
              <a:t> </a:t>
            </a:r>
          </a:p>
          <a:p>
            <a:r>
              <a:rPr sz="1000" b="0" i="0">
                <a:solidFill>
                  <a:srgbClr val="0F2E2E"/>
                </a:solidFill>
                <a:latin typeface="Courier New"/>
              </a:rPr>
              <a:t>def register_interceptor(self):</a:t>
            </a:r>
          </a:p>
          <a:p>
            <a:r>
              <a:rPr sz="1000" b="0" i="0">
                <a:solidFill>
                  <a:srgbClr val="0F2E2E"/>
                </a:solidFill>
                <a:latin typeface="Courier New"/>
              </a:rPr>
              <a:t>    self.remote.add_command(</a:t>
            </a:r>
          </a:p>
          <a:p>
            <a:r>
              <a:rPr sz="1000" b="0" i="0">
                <a:solidFill>
                  <a:srgbClr val="0F2E2E"/>
                </a:solidFill>
                <a:latin typeface="Courier New"/>
              </a:rPr>
              <a:t>        self.COMMAND,</a:t>
            </a:r>
          </a:p>
          <a:p>
            <a:r>
              <a:rPr sz="1000" b="0" i="0">
                <a:solidFill>
                  <a:srgbClr val="0F2E2E"/>
                </a:solidFill>
                <a:latin typeface="Courier New"/>
              </a:rPr>
              <a:t>        from_hub_fmt=f"{FRAME_SIZE}s",</a:t>
            </a:r>
          </a:p>
          <a:p>
            <a:r>
              <a:rPr sz="1000" b="0" i="0">
                <a:solidFill>
                  <a:srgbClr val="0F2E2E"/>
                </a:solidFill>
                <a:latin typeface="Courier New"/>
              </a:rPr>
              <a:t>        to_hub_fmt=f"{FRAME_SIZE}s",</a:t>
            </a:r>
          </a:p>
          <a:p>
            <a:r>
              <a:rPr sz="1000" b="0" i="0">
                <a:solidFill>
                  <a:srgbClr val="0F2E2E"/>
                </a:solidFill>
                <a:latin typeface="Courier New"/>
              </a:rPr>
              <a: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Frame - 3 Byte Header, 13 Byte Nutzlast</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311700" y="1250000"/>
          <a:ext cx="8138299" cy="2400000"/>
        </p:xfrm>
        <a:graphic>
          <a:graphicData uri="http://schemas.openxmlformats.org/drawingml/2006/table">
            <a:tbl>
              <a:tblPr firstRow="0" bandRow="0">
                <a:tableStyleId>{2D5ABB26-0587-4C30-8999-92F81FD0307C}</a:tableStyleId>
              </a:tblPr>
              <a:tblGrid>
                <a:gridCol w="1312629"/>
                <a:gridCol w="1575154"/>
                <a:gridCol w="5250516"/>
              </a:tblGrid>
              <a:tr h="400000">
                <a:tc>
                  <a:txBody>
                    <a:bodyPr wrap="square"/>
                    <a:lstStyle/>
                    <a:p>
                      <a:r>
                        <a:rPr sz="1400" b="1" i="0">
                          <a:solidFill>
                            <a:srgbClr val="FFFFFF"/>
                          </a:solidFill>
                          <a:latin typeface="Calibri"/>
                        </a:rPr>
                        <a:t>Byte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1" i="0">
                          <a:solidFill>
                            <a:srgbClr val="FFFFFF"/>
                          </a:solidFill>
                          <a:latin typeface="Calibri"/>
                        </a:rPr>
                        <a:t>Bits</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1" i="0">
                          <a:solidFill>
                            <a:srgbClr val="FFFFFF"/>
                          </a:solidFill>
                          <a:latin typeface="Calibri"/>
                        </a:rPr>
                        <a:t>Inhalt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400000">
                <a:tc>
                  <a:txBody>
                    <a:bodyPr wrap="square"/>
                    <a:lstStyle/>
                    <a:p>
                      <a:r>
                        <a:rPr sz="1400" b="1" i="0">
                          <a:solidFill>
                            <a:srgbClr val="0F2E2E"/>
                          </a:solidFill>
                          <a:latin typeface="Calibri"/>
                        </a:rPr>
                        <a:t>0</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8</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Kennung der Nachricht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400000">
                <a:tc>
                  <a:txBody>
                    <a:bodyPr wrap="square"/>
                    <a:lstStyle/>
                    <a:p>
                      <a:r>
                        <a:rPr sz="1400" b="1" i="0">
                          <a:solidFill>
                            <a:srgbClr val="0F2E2E"/>
                          </a:solidFill>
                          <a:latin typeface="Calibri"/>
                        </a:rPr>
                        <a:t>1</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8</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Position innerhalb der Nachricht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400000">
                <a:tc>
                  <a:txBody>
                    <a:bodyPr wrap="square"/>
                    <a:lstStyle/>
                    <a:p>
                      <a:r>
                        <a:rPr sz="1400" b="1" i="0">
                          <a:solidFill>
                            <a:srgbClr val="0F2E2E"/>
                          </a:solidFill>
                          <a:latin typeface="Calibri"/>
                        </a:rPr>
                        <a:t>2</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4 obere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Art des Frames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400000">
                <a:tc>
                  <a:txBody>
                    <a:bodyPr wrap="square"/>
                    <a:lstStyle/>
                    <a:p>
                      <a:r>
                        <a:rPr sz="1400" b="1" i="0">
                          <a:solidFill>
                            <a:srgbClr val="0F2E2E"/>
                          </a:solidFill>
                          <a:latin typeface="Calibri"/>
                        </a:rPr>
                        <a:t>2</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4 untere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Länge der Nutzlast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400000">
                <a:tc>
                  <a:txBody>
                    <a:bodyPr wrap="square"/>
                    <a:lstStyle/>
                    <a:p>
                      <a:r>
                        <a:rPr sz="1400" b="1" i="0">
                          <a:solidFill>
                            <a:srgbClr val="0F2E2E"/>
                          </a:solidFill>
                          <a:latin typeface="Calibri"/>
                        </a:rPr>
                        <a:t>3-15</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13 Byte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400" b="0" i="0">
                          <a:solidFill>
                            <a:srgbClr val="0F2E2E"/>
                          </a:solidFill>
                          <a:latin typeface="Calibri"/>
                        </a:rPr>
                        <a:t>Nutzlast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5" name="TextBox 4"/>
          <p:cNvSpPr txBox="1"/>
          <p:nvPr/>
        </p:nvSpPr>
        <p:spPr>
          <a:xfrm>
            <a:off x="311700" y="3950000"/>
            <a:ext cx="8138300" cy="800000"/>
          </a:xfrm>
          <a:prstGeom prst="rect">
            <a:avLst/>
          </a:prstGeom>
          <a:noFill/>
        </p:spPr>
        <p:txBody>
          <a:bodyPr wrap="square">
            <a:spAutoFit/>
          </a:bodyPr>
          <a:lstStyle/>
          <a:p>
            <a:pPr marL="457200" indent="-330200">
              <a:spcBef>
                <a:spcPts val="0"/>
              </a:spcBef>
              <a:buClr>
                <a:srgbClr val="0F2E2E"/>
              </a:buClr>
              <a:buSzPts val="1400"/>
              <a:buFont typeface="Calibri"/>
              <a:buChar char="●"/>
            </a:pPr>
            <a:r>
              <a:rPr sz="1400" b="0" i="0">
                <a:solidFill>
                  <a:srgbClr val="0F2E2E"/>
                </a:solidFill>
                <a:latin typeface="Calibri"/>
              </a:rPr>
              <a:t>255 Positionen × 13 Byte = 3315 Byte je Nachricht; diese Obergrenze ist der Puffer nach K5.</a:t>
            </a:r>
          </a:p>
          <a:p>
            <a:pPr marL="457200" indent="-330200">
              <a:spcBef>
                <a:spcPts val="900"/>
              </a:spcBef>
              <a:buClr>
                <a:srgbClr val="0F2E2E"/>
              </a:buClr>
              <a:buSzPts val="1400"/>
              <a:buFont typeface="Calibri"/>
              <a:buChar char="●"/>
            </a:pPr>
            <a:r>
              <a:rPr sz="1400" b="0" i="0">
                <a:solidFill>
                  <a:srgbClr val="0F2E2E"/>
                </a:solidFill>
                <a:latin typeface="Calibri"/>
              </a:rPr>
              <a:t>Art: 8 von 16 Werten belegt, ein Bit sparen brächte nichts.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Art des Frames</a:t>
            </a:r>
          </a:p>
        </p:txBody>
      </p:sp>
      <p:graphicFrame>
        <p:nvGraphicFramePr>
          <p:cNvPr id="3" name="Table 2"/>
          <p:cNvGraphicFramePr>
            <a:graphicFrameLocks noGrp="1"/>
          </p:cNvGraphicFramePr>
          <p:nvPr/>
        </p:nvGraphicFramePr>
        <p:xfrm>
          <a:off x="311700" y="1200000"/>
          <a:ext cx="8138299" cy="3420000"/>
        </p:xfrm>
        <a:graphic>
          <a:graphicData uri="http://schemas.openxmlformats.org/drawingml/2006/table">
            <a:tbl>
              <a:tblPr firstRow="0" bandRow="0">
                <a:tableStyleId>{2D5ABB26-0587-4C30-8999-92F81FD0307C}</a:tableStyleId>
              </a:tblPr>
              <a:tblGrid>
                <a:gridCol w="971737"/>
                <a:gridCol w="1700540"/>
                <a:gridCol w="5466022"/>
              </a:tblGrid>
              <a:tr h="380000">
                <a:tc>
                  <a:txBody>
                    <a:bodyPr wrap="square"/>
                    <a:lstStyle/>
                    <a:p>
                      <a:r>
                        <a:rPr sz="1300" b="1" i="0">
                          <a:solidFill>
                            <a:srgbClr val="FFFFFF"/>
                          </a:solidFill>
                          <a:latin typeface="Calibri"/>
                        </a:rPr>
                        <a:t>Wert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Name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Bedeutung</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0x0</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DATA</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Nutzlastframe, weitere folgen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0x1</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DATA_LAST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Nutzlastframe, letzter der Nachricht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0x2</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ACK</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Bestätigung eines empfangenen Frames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0x3</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NACK</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Ergebnis noch nicht bereit / nichts weiter vorhanden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0x4</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ERR</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Fehlermeldung, kann kurze Beschreibung tragen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0x5</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READY</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Anfrage, ob ein Ergebnis bereitliegt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0x6</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NEXT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Anfrage nach dem Ergebnisframe an der Position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0x7</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DONE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Antwort auf READY: Ergebnis liegt bereit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Message - Frames aus dem Index</a:t>
            </a:r>
          </a:p>
        </p:txBody>
      </p:sp>
      <p:sp>
        <p:nvSpPr>
          <p:cNvPr id="3" name="Text Placeholder 2"/>
          <p:cNvSpPr>
            <a:spLocks noGrp="1"/>
          </p:cNvSpPr>
          <p:nvPr>
            <p:ph type="body" idx="1"/>
          </p:nvPr>
        </p:nvSpPr>
        <p:spPr>
          <a:xfrm>
            <a:off x="5200000" y="1152475"/>
            <a:ext cx="32500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Gleiche Position, gleicher Frame</a:t>
            </a:r>
          </a:p>
          <a:p>
            <a:pPr marL="457200" indent="0">
              <a:spcBef>
                <a:spcPts val="100"/>
              </a:spcBef>
              <a:buNone/>
            </a:pPr>
            <a:r>
              <a:rPr sz="1200" b="0" i="0">
                <a:solidFill>
                  <a:srgbClr val="5B6B6B"/>
                </a:solidFill>
                <a:latin typeface="Calibri"/>
              </a:rPr>
              <a:t>Wiederholte Anfragen im Rückkanal sind unkritisch.</a:t>
            </a:r>
          </a:p>
          <a:p>
            <a:pPr marL="457200" indent="-330200">
              <a:spcBef>
                <a:spcPts val="900"/>
              </a:spcBef>
              <a:buClr>
                <a:srgbClr val="0F2E2E"/>
              </a:buClr>
              <a:buSzPts val="1400"/>
              <a:buFont typeface="Calibri"/>
              <a:buChar char="●"/>
            </a:pPr>
            <a:r>
              <a:rPr sz="1400" b="1" i="0">
                <a:solidFill>
                  <a:srgbClr val="0F2E2E"/>
                </a:solidFill>
                <a:latin typeface="Calibri"/>
              </a:rPr>
              <a:t>Generator verworfen</a:t>
            </a:r>
          </a:p>
          <a:p>
            <a:pPr marL="457200" indent="0">
              <a:spcBef>
                <a:spcPts val="100"/>
              </a:spcBef>
              <a:buNone/>
            </a:pPr>
            <a:r>
              <a:rPr sz="1200" b="0" i="0">
                <a:solidFill>
                  <a:srgbClr val="5B6B6B"/>
                </a:solidFill>
                <a:latin typeface="Calibri"/>
              </a:rPr>
              <a:t>Er erschwerte das Wiederholen einzelner Frames.</a:t>
            </a:r>
          </a:p>
          <a:p>
            <a:pPr marL="457200" indent="-330200">
              <a:spcBef>
                <a:spcPts val="900"/>
              </a:spcBef>
              <a:buClr>
                <a:srgbClr val="0F2E2E"/>
              </a:buClr>
              <a:buSzPts val="1400"/>
              <a:buFont typeface="Calibri"/>
              <a:buChar char="●"/>
            </a:pPr>
            <a:r>
              <a:rPr sz="1400" b="1" i="0">
                <a:solidFill>
                  <a:srgbClr val="0F2E2E"/>
                </a:solidFill>
                <a:latin typeface="Calibri"/>
              </a:rPr>
              <a:t>Zwei Wege zum Einsammeln</a:t>
            </a:r>
          </a:p>
          <a:p>
            <a:pPr marL="457200" indent="0">
              <a:spcBef>
                <a:spcPts val="100"/>
              </a:spcBef>
              <a:buNone/>
            </a:pPr>
            <a:r>
              <a:rPr sz="1200" b="0" i="0">
                <a:solidFill>
                  <a:srgbClr val="5B6B6B"/>
                </a:solidFill>
                <a:latin typeface="Calibri"/>
              </a:rPr>
              <a:t>collect_frame (Rückkanal) sortiert, append_frame (Hinweg) setzt die Reihenfolge voraus.</a:t>
            </a:r>
          </a:p>
        </p:txBody>
      </p:sp>
      <p:sp>
        <p:nvSpPr>
          <p:cNvPr id="4" name="TextBox 3"/>
          <p:cNvSpPr txBox="1"/>
          <p:nvPr/>
        </p:nvSpPr>
        <p:spPr>
          <a:xfrm>
            <a:off x="311700" y="1200000"/>
            <a:ext cx="4700000" cy="2700000"/>
          </a:xfrm>
          <a:prstGeom prst="rect">
            <a:avLst/>
          </a:prstGeom>
          <a:solidFill>
            <a:srgbClr val="F3F3F3"/>
          </a:solidFill>
        </p:spPr>
        <p:txBody>
          <a:bodyPr wrap="square" lIns="91425" rIns="91425" tIns="70000" bIns="70000">
            <a:spAutoFit/>
          </a:bodyPr>
          <a:lstStyle/>
          <a:p>
            <a:r>
              <a:rPr sz="1000" b="0" i="0">
                <a:solidFill>
                  <a:srgbClr val="0F2E2E"/>
                </a:solidFill>
                <a:latin typeface="Courier New"/>
              </a:rPr>
              <a:t>def frame_at(self, index):</a:t>
            </a:r>
          </a:p>
          <a:p>
            <a:r>
              <a:rPr sz="1000" b="0" i="0">
                <a:solidFill>
                  <a:srgbClr val="0F2E2E"/>
                </a:solidFill>
                <a:latin typeface="Courier New"/>
              </a:rPr>
              <a:t>    start = index * PAYLOAD_SIZE</a:t>
            </a:r>
          </a:p>
          <a:p>
            <a:r>
              <a:rPr sz="1000" b="0" i="0">
                <a:solidFill>
                  <a:srgbClr val="0F2E2E"/>
                </a:solidFill>
                <a:latin typeface="Courier New"/>
              </a:rPr>
              <a:t>    if start &gt;= len(self.payload) and \</a:t>
            </a:r>
          </a:p>
          <a:p>
            <a:r>
              <a:rPr sz="1000" b="0" i="0">
                <a:solidFill>
                  <a:srgbClr val="0F2E2E"/>
                </a:solidFill>
                <a:latin typeface="Courier New"/>
              </a:rPr>
              <a:t>       not (index == 0 and not self.payload):</a:t>
            </a:r>
          </a:p>
          <a:p>
            <a:r>
              <a:rPr sz="1000" b="0" i="0">
                <a:solidFill>
                  <a:srgbClr val="0F2E2E"/>
                </a:solidFill>
                <a:latin typeface="Courier New"/>
              </a:rPr>
              <a:t>        return None</a:t>
            </a:r>
          </a:p>
          <a:p>
            <a:r>
              <a:rPr sz="1000" b="0" i="0">
                <a:solidFill>
                  <a:srgbClr val="0F2E2E"/>
                </a:solidFill>
                <a:latin typeface="Courier New"/>
              </a:rPr>
              <a:t>    chunk = self.payload[start:start+PAYLOAD_SIZE]</a:t>
            </a:r>
          </a:p>
          <a:p>
            <a:r>
              <a:rPr sz="1000" b="0" i="0">
                <a:solidFill>
                  <a:srgbClr val="0F2E2E"/>
                </a:solidFill>
                <a:latin typeface="Courier New"/>
              </a:rPr>
              <a:t>    last = start + PAYLOAD_SIZE &gt;= len(self.payload)</a:t>
            </a:r>
          </a:p>
          <a:p>
            <a:r>
              <a:rPr sz="1000" b="0" i="0">
                <a:solidFill>
                  <a:srgbClr val="0F2E2E"/>
                </a:solidFill>
                <a:latin typeface="Courier New"/>
              </a:rPr>
              <a:t>    return Frame(self.g_id, index % 256,</a:t>
            </a:r>
          </a:p>
          <a:p>
            <a:r>
              <a:rPr sz="1000" b="0" i="0">
                <a:solidFill>
                  <a:srgbClr val="0F2E2E"/>
                </a:solidFill>
                <a:latin typeface="Courier New"/>
              </a:rPr>
              <a:t>        OP_DATA_LAST if last else OP_DATA, chunk)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Codec - Serialisierung an einer Stelle</a:t>
            </a:r>
          </a:p>
        </p:txBody>
      </p:sp>
      <p:sp>
        <p:nvSpPr>
          <p:cNvPr id="3" name="Text Placeholder 2"/>
          <p:cNvSpPr>
            <a:spLocks noGrp="1"/>
          </p:cNvSpPr>
          <p:nvPr>
            <p:ph type="body" idx="1"/>
          </p:nvPr>
        </p:nvSpPr>
        <p:spPr>
          <a:xfrm>
            <a:off x="311700" y="1152475"/>
            <a:ext cx="50000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Schnittstelle</a:t>
            </a:r>
          </a:p>
          <a:p>
            <a:pPr marL="457200" indent="0">
              <a:spcBef>
                <a:spcPts val="100"/>
              </a:spcBef>
              <a:buNone/>
            </a:pPr>
            <a:r>
              <a:rPr sz="1200" b="0" i="0">
                <a:solidFill>
                  <a:srgbClr val="5B6B6B"/>
                </a:solidFill>
                <a:latin typeface="Calibri"/>
              </a:rPr>
              <a:t>encode: Objekt zu Bytes, decode: Bytes zu Objekt. Eine Zuweisung wählt den Codec.</a:t>
            </a:r>
          </a:p>
          <a:p>
            <a:pPr marL="457200" indent="-330200">
              <a:spcBef>
                <a:spcPts val="900"/>
              </a:spcBef>
              <a:buClr>
                <a:srgbClr val="0F2E2E"/>
              </a:buClr>
              <a:buSzPts val="1400"/>
              <a:buFont typeface="Calibri"/>
              <a:buChar char="●"/>
            </a:pPr>
            <a:r>
              <a:rPr sz="1400" b="1" i="0">
                <a:solidFill>
                  <a:srgbClr val="0F2E2E"/>
                </a:solidFill>
                <a:latin typeface="Calibri"/>
              </a:rPr>
              <a:t>MessagePack-Teilmenge</a:t>
            </a:r>
          </a:p>
          <a:p>
            <a:pPr marL="457200" indent="0">
              <a:spcBef>
                <a:spcPts val="100"/>
              </a:spcBef>
              <a:buNone/>
            </a:pPr>
            <a:r>
              <a:rPr sz="1200" b="0" i="0">
                <a:solidFill>
                  <a:srgbClr val="5B6B6B"/>
                </a:solidFill>
                <a:latin typeface="Calibri"/>
              </a:rPr>
              <a:t>Nur die tatsächlich genutzten Typen, Ganzzahlen bis 16 Bit (Hub: Konstanten &lt; 2³⁰). Ein kleiner Decoder auf beiden Seiten.</a:t>
            </a:r>
          </a:p>
          <a:p>
            <a:pPr marL="457200" indent="-330200">
              <a:spcBef>
                <a:spcPts val="900"/>
              </a:spcBef>
              <a:buClr>
                <a:srgbClr val="0F2E2E"/>
              </a:buClr>
              <a:buSzPts val="1400"/>
              <a:buFont typeface="Calibri"/>
              <a:buChar char="●"/>
            </a:pPr>
            <a:r>
              <a:rPr sz="1400" b="1" i="0">
                <a:solidFill>
                  <a:srgbClr val="0F2E2E"/>
                </a:solidFill>
                <a:latin typeface="Calibri"/>
              </a:rPr>
              <a:t>JSON</a:t>
            </a:r>
          </a:p>
          <a:p>
            <a:pPr marL="457200" indent="0">
              <a:spcBef>
                <a:spcPts val="100"/>
              </a:spcBef>
              <a:buNone/>
            </a:pPr>
            <a:r>
              <a:rPr sz="1200" b="0" i="0">
                <a:solidFill>
                  <a:srgbClr val="5B6B6B"/>
                </a:solidFill>
                <a:latin typeface="Calibri"/>
              </a:rPr>
              <a:t>Erste Umsetzung, im Klartext lesbar, bleibt für Mitschnitte erhalten.</a:t>
            </a:r>
          </a:p>
          <a:p>
            <a:pPr marL="457200" indent="-330200">
              <a:spcBef>
                <a:spcPts val="900"/>
              </a:spcBef>
              <a:buClr>
                <a:srgbClr val="0F2E2E"/>
              </a:buClr>
              <a:buSzPts val="1400"/>
              <a:buFont typeface="Calibri"/>
              <a:buChar char="●"/>
            </a:pPr>
            <a:r>
              <a:rPr sz="1400" b="1" i="0">
                <a:solidFill>
                  <a:srgbClr val="0F2E2E"/>
                </a:solidFill>
                <a:latin typeface="Calibri"/>
              </a:rPr>
              <a:t>Voraussetzung</a:t>
            </a:r>
          </a:p>
          <a:p>
            <a:pPr marL="457200" indent="0">
              <a:spcBef>
                <a:spcPts val="100"/>
              </a:spcBef>
              <a:buNone/>
            </a:pPr>
            <a:r>
              <a:rPr sz="1200" b="0" i="0">
                <a:solidFill>
                  <a:srgbClr val="5B6B6B"/>
                </a:solidFill>
                <a:latin typeface="Calibri"/>
              </a:rPr>
              <a:t>Binär nur möglich, weil die Rahmung die Länge der Nutzlast mitführt.</a:t>
            </a:r>
          </a:p>
        </p:txBody>
      </p:sp>
      <p:pic>
        <p:nvPicPr>
          <p:cNvPr id="4" name="Picture 3" descr="codec.png"/>
          <p:cNvPicPr>
            <a:picLocks noChangeAspect="1"/>
          </p:cNvPicPr>
          <p:nvPr/>
        </p:nvPicPr>
        <p:blipFill>
          <a:blip r:embed="rId3"/>
          <a:stretch>
            <a:fillRect/>
          </a:stretch>
        </p:blipFill>
        <p:spPr>
          <a:xfrm>
            <a:off x="5650000" y="1150000"/>
            <a:ext cx="2597564" cy="29260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Aufrufnachricht und Methodenkennung</a:t>
            </a:r>
          </a:p>
        </p:txBody>
      </p:sp>
      <p:sp>
        <p:nvSpPr>
          <p:cNvPr id="3" name="Text Placeholder 2"/>
          <p:cNvSpPr>
            <a:spLocks noGrp="1"/>
          </p:cNvSpPr>
          <p:nvPr>
            <p:ph type="body" idx="1"/>
          </p:nvPr>
        </p:nvSpPr>
        <p:spPr>
          <a:xfrm>
            <a:off x="4350000" y="2800000"/>
            <a:ext cx="4100000" cy="1700000"/>
          </a:xfrm>
        </p:spPr>
        <p:txBody>
          <a:bodyPr wrap="square"/>
          <a:lstStyle/>
          <a:p>
            <a:pPr marL="457200" indent="-330200">
              <a:spcBef>
                <a:spcPts val="0"/>
              </a:spcBef>
              <a:buClr>
                <a:srgbClr val="0F2E2E"/>
              </a:buClr>
              <a:buSzPts val="1400"/>
              <a:buFont typeface="Calibri"/>
              <a:buChar char="●"/>
            </a:pPr>
            <a:r>
              <a:rPr sz="1300" b="0" i="0">
                <a:solidFill>
                  <a:srgbClr val="0F2E2E"/>
                </a:solidFill>
                <a:latin typeface="Calibri"/>
              </a:rPr>
              <a:t>djb2 auf 16 Bit, eingebautes hash() ungeeignet</a:t>
            </a:r>
          </a:p>
          <a:p>
            <a:pPr marL="457200" indent="-330200">
              <a:spcBef>
                <a:spcPts val="900"/>
              </a:spcBef>
              <a:buClr>
                <a:srgbClr val="0F2E2E"/>
              </a:buClr>
              <a:buSzPts val="1400"/>
              <a:buFont typeface="Calibri"/>
              <a:buChar char="●"/>
            </a:pPr>
            <a:r>
              <a:rPr sz="1300" b="0" i="0">
                <a:solidFill>
                  <a:srgbClr val="0F2E2E"/>
                </a:solidFill>
                <a:latin typeface="Calibri"/>
              </a:rPr>
              <a:t>Maskierung hält Werte &lt; 2³⁰</a:t>
            </a:r>
          </a:p>
          <a:p>
            <a:pPr marL="457200" indent="-330200">
              <a:spcBef>
                <a:spcPts val="900"/>
              </a:spcBef>
              <a:buClr>
                <a:srgbClr val="0F2E2E"/>
              </a:buClr>
              <a:buSzPts val="1400"/>
              <a:buFont typeface="Calibri"/>
              <a:buChar char="●"/>
            </a:pPr>
            <a:r>
              <a:rPr sz="1300" b="0" i="0">
                <a:solidFill>
                  <a:srgbClr val="0F2E2E"/>
                </a:solidFill>
                <a:latin typeface="Calibri"/>
              </a:rPr>
              <a:t>Kollision bei 10 Methoden: 0,069 % (16 Bit) statt 16,3 % (8 Bit)</a:t>
            </a:r>
          </a:p>
          <a:p>
            <a:pPr marL="457200" indent="-330200">
              <a:spcBef>
                <a:spcPts val="900"/>
              </a:spcBef>
              <a:buClr>
                <a:srgbClr val="0F2E2E"/>
              </a:buClr>
              <a:buSzPts val="1400"/>
              <a:buFont typeface="Calibri"/>
              <a:buChar char="●"/>
            </a:pPr>
            <a:r>
              <a:rPr sz="1300" b="0" i="0">
                <a:solidFill>
                  <a:srgbClr val="0F2E2E"/>
                </a:solidFill>
                <a:latin typeface="Calibri"/>
              </a:rPr>
              <a:t>Kollision wird beim Start erkannt</a:t>
            </a:r>
          </a:p>
        </p:txBody>
      </p:sp>
      <p:graphicFrame>
        <p:nvGraphicFramePr>
          <p:cNvPr id="4" name="Table 3"/>
          <p:cNvGraphicFramePr>
            <a:graphicFrameLocks noGrp="1"/>
          </p:cNvGraphicFramePr>
          <p:nvPr/>
        </p:nvGraphicFramePr>
        <p:xfrm>
          <a:off x="311700" y="1200000"/>
          <a:ext cx="8138299" cy="1440000"/>
        </p:xfrm>
        <a:graphic>
          <a:graphicData uri="http://schemas.openxmlformats.org/drawingml/2006/table">
            <a:tbl>
              <a:tblPr firstRow="0" bandRow="0">
                <a:tableStyleId>{2D5ABB26-0587-4C30-8999-92F81FD0307C}</a:tableStyleId>
              </a:tblPr>
              <a:tblGrid>
                <a:gridCol w="2100206"/>
                <a:gridCol w="1312629"/>
                <a:gridCol w="4725464"/>
              </a:tblGrid>
              <a:tr h="360000">
                <a:tc>
                  <a:txBody>
                    <a:bodyPr wrap="square"/>
                    <a:lstStyle/>
                    <a:p>
                      <a:r>
                        <a:rPr sz="1300" b="1" i="0">
                          <a:solidFill>
                            <a:srgbClr val="FFFFFF"/>
                          </a:solidFill>
                          <a:latin typeface="Calibri"/>
                        </a:rPr>
                        <a:t>Nutzlast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Schlüssel</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Inhalt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CommandPayload</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s, c, a</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Scope, Methodenkennung, Argumente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DataPayload</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Rückgabewert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ErrorPayload</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 k</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Fehlerbeschreibung, Fehlerart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5" name="TextBox 4"/>
          <p:cNvSpPr txBox="1"/>
          <p:nvPr/>
        </p:nvSpPr>
        <p:spPr>
          <a:xfrm>
            <a:off x="311700" y="2850000"/>
            <a:ext cx="3900000" cy="1500000"/>
          </a:xfrm>
          <a:prstGeom prst="rect">
            <a:avLst/>
          </a:prstGeom>
          <a:solidFill>
            <a:srgbClr val="F3F3F3"/>
          </a:solidFill>
        </p:spPr>
        <p:txBody>
          <a:bodyPr wrap="square" lIns="91425" rIns="91425" tIns="70000" bIns="70000">
            <a:spAutoFit/>
          </a:bodyPr>
          <a:lstStyle/>
          <a:p>
            <a:r>
              <a:rPr sz="1100" b="0" i="0">
                <a:solidFill>
                  <a:srgbClr val="0F2E2E"/>
                </a:solidFill>
                <a:latin typeface="Courier New"/>
              </a:rPr>
              <a:t>def name_hash(name):</a:t>
            </a:r>
          </a:p>
          <a:p>
            <a:r>
              <a:rPr sz="1100" b="0" i="0">
                <a:solidFill>
                  <a:srgbClr val="0F2E2E"/>
                </a:solidFill>
                <a:latin typeface="Courier New"/>
              </a:rPr>
              <a:t>    h = 5381</a:t>
            </a:r>
          </a:p>
          <a:p>
            <a:r>
              <a:rPr sz="1100" b="0" i="0">
                <a:solidFill>
                  <a:srgbClr val="0F2E2E"/>
                </a:solidFill>
                <a:latin typeface="Courier New"/>
              </a:rPr>
              <a:t>    for ch in name:</a:t>
            </a:r>
          </a:p>
          <a:p>
            <a:r>
              <a:rPr sz="1100" b="0" i="0">
                <a:solidFill>
                  <a:srgbClr val="0F2E2E"/>
                </a:solidFill>
                <a:latin typeface="Courier New"/>
              </a:rPr>
              <a:t>        h = ((h * 33) ^ ord(ch)) &amp; 0xFFFF</a:t>
            </a:r>
          </a:p>
          <a:p>
            <a:r>
              <a:rPr sz="1100" b="0" i="0">
                <a:solidFill>
                  <a:srgbClr val="0F2E2E"/>
                </a:solidFill>
                <a:latin typeface="Courier New"/>
              </a:rPr>
              <a:t>    return 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Verteilung und Rückkanal</a:t>
            </a:r>
          </a:p>
        </p:txBody>
      </p:sp>
      <p:sp>
        <p:nvSpPr>
          <p:cNvPr id="3" name="Text Placeholder 2"/>
          <p:cNvSpPr>
            <a:spLocks noGrp="1"/>
          </p:cNvSpPr>
          <p:nvPr>
            <p:ph type="body" idx="1"/>
          </p:nvPr>
        </p:nvSpPr>
        <p:spPr/>
        <p:txBody>
          <a:bodyPr/>
          <a:lstStyle/>
          <a:p/>
        </p:txBody>
      </p:sp>
      <p:sp>
        <p:nvSpPr>
          <p:cNvPr id="4" name="TextBox 3"/>
          <p:cNvSpPr txBox="1"/>
          <p:nvPr/>
        </p:nvSpPr>
        <p:spPr>
          <a:xfrm>
            <a:off x="311700" y="1200000"/>
            <a:ext cx="4400000" cy="2500000"/>
          </a:xfrm>
          <a:prstGeom prst="rect">
            <a:avLst/>
          </a:prstGeom>
          <a:solidFill>
            <a:srgbClr val="F3F3F3"/>
          </a:solidFill>
        </p:spPr>
        <p:txBody>
          <a:bodyPr wrap="square" lIns="91425" rIns="91425" tIns="70000" bIns="70000">
            <a:spAutoFit/>
          </a:bodyPr>
          <a:lstStyle/>
          <a:p>
            <a:r>
              <a:rPr sz="1000" b="0" i="0">
                <a:solidFill>
                  <a:srgbClr val="0F2E2E"/>
                </a:solidFill>
                <a:latin typeface="Courier New"/>
              </a:rPr>
              <a:t>if frame.opcode == OP_READY:</a:t>
            </a:r>
          </a:p>
          <a:p>
            <a:r>
              <a:rPr sz="1000" b="0" i="0">
                <a:solidFill>
                  <a:srgbClr val="0F2E2E"/>
                </a:solidFill>
                <a:latin typeface="Courier New"/>
              </a:rPr>
              <a:t>    if self.__is_result_ready__(frame.g_id):</a:t>
            </a:r>
          </a:p>
          <a:p>
            <a:r>
              <a:rPr sz="1000" b="0" i="0">
                <a:solidFill>
                  <a:srgbClr val="0F2E2E"/>
                </a:solidFill>
                <a:latin typeface="Courier New"/>
              </a:rPr>
              <a:t>        return Frame.create_done(...)</a:t>
            </a:r>
          </a:p>
          <a:p>
            <a:r>
              <a:rPr sz="1000" b="0" i="0">
                <a:solidFill>
                  <a:srgbClr val="0F2E2E"/>
                </a:solidFill>
                <a:latin typeface="Courier New"/>
              </a:rPr>
              <a:t>    return Frame.create_no_ack(...)</a:t>
            </a:r>
          </a:p>
          <a:p>
            <a:r>
              <a:rPr sz="1000" b="0" i="0">
                <a:solidFill>
                  <a:srgbClr val="0F2E2E"/>
                </a:solidFill>
                <a:latin typeface="Courier New"/>
              </a:rPr>
              <a:t> </a:t>
            </a:r>
          </a:p>
          <a:p>
            <a:r>
              <a:rPr sz="1000" b="0" i="0">
                <a:solidFill>
                  <a:srgbClr val="0F2E2E"/>
                </a:solidFill>
                <a:latin typeface="Courier New"/>
              </a:rPr>
              <a:t>if frame.opcode == OP_NEXT:</a:t>
            </a:r>
          </a:p>
          <a:p>
            <a:r>
              <a:rPr sz="1000" b="0" i="0">
                <a:solidFill>
                  <a:srgbClr val="0F2E2E"/>
                </a:solidFill>
                <a:latin typeface="Courier New"/>
              </a:rPr>
              <a:t>    msg = self.outgoing.get(frame.g_id)</a:t>
            </a:r>
          </a:p>
          <a:p>
            <a:r>
              <a:rPr sz="1000" b="0" i="0">
                <a:solidFill>
                  <a:srgbClr val="0F2E2E"/>
                </a:solidFill>
                <a:latin typeface="Courier New"/>
              </a:rPr>
              <a:t>    res = msg.frame_at(frame.frame_nr)</a:t>
            </a:r>
          </a:p>
          <a:p>
            <a:r>
              <a:rPr sz="1000" b="0" i="0">
                <a:solidFill>
                  <a:srgbClr val="0F2E2E"/>
                </a:solidFill>
                <a:latin typeface="Courier New"/>
              </a:rPr>
              <a:t>    return res.to_bytes()</a:t>
            </a:r>
          </a:p>
        </p:txBody>
      </p:sp>
      <p:graphicFrame>
        <p:nvGraphicFramePr>
          <p:cNvPr id="5" name="Table 4"/>
          <p:cNvGraphicFramePr>
            <a:graphicFrameLocks noGrp="1"/>
          </p:cNvGraphicFramePr>
          <p:nvPr/>
        </p:nvGraphicFramePr>
        <p:xfrm>
          <a:off x="4950000" y="1200000"/>
          <a:ext cx="3499999" cy="2280000"/>
        </p:xfrm>
        <a:graphic>
          <a:graphicData uri="http://schemas.openxmlformats.org/drawingml/2006/table">
            <a:tbl>
              <a:tblPr firstRow="0" bandRow="0">
                <a:tableStyleId>{2D5ABB26-0587-4C30-8999-92F81FD0307C}</a:tableStyleId>
              </a:tblPr>
              <a:tblGrid>
                <a:gridCol w="2470588"/>
                <a:gridCol w="1029411"/>
              </a:tblGrid>
              <a:tr h="380000">
                <a:tc>
                  <a:txBody>
                    <a:bodyPr wrap="square"/>
                    <a:lstStyle/>
                    <a:p>
                      <a:r>
                        <a:rPr sz="1200" b="1" i="0">
                          <a:solidFill>
                            <a:srgbClr val="FFFFFF"/>
                          </a:solidFill>
                          <a:latin typeface="Calibri"/>
                        </a:rPr>
                        <a:t>Konstante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1" i="0">
                          <a:solidFill>
                            <a:srgbClr val="FFFFFF"/>
                          </a:solidFill>
                          <a:latin typeface="Calibri"/>
                        </a:rPr>
                        <a:t>Wert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RESULT_POLL_MS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50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MAX_RESULT_WAIT_MS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5000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MAX_FRAME_ATTEMPTS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8</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MAX_KEPT_RESULTS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4</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MAX_EVENTS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10</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6" name="TextBox 5"/>
          <p:cNvSpPr txBox="1"/>
          <p:nvPr/>
        </p:nvSpPr>
        <p:spPr>
          <a:xfrm>
            <a:off x="311700" y="3900000"/>
            <a:ext cx="8138300" cy="600000"/>
          </a:xfrm>
          <a:prstGeom prst="rect">
            <a:avLst/>
          </a:prstGeom>
          <a:noFill/>
        </p:spPr>
        <p:txBody>
          <a:bodyPr wrap="square">
            <a:spAutoFit/>
          </a:bodyPr>
          <a:lstStyle/>
          <a:p>
            <a:pPr marL="457200" indent="-330200">
              <a:spcBef>
                <a:spcPts val="0"/>
              </a:spcBef>
              <a:buClr>
                <a:srgbClr val="0F2E2E"/>
              </a:buClr>
              <a:buSzPts val="1400"/>
              <a:buFont typeface="Calibri"/>
              <a:buChar char="●"/>
            </a:pPr>
            <a:r>
              <a:rPr sz="1300" b="0" i="0">
                <a:solidFill>
                  <a:srgbClr val="0F2E2E"/>
                </a:solidFill>
                <a:latin typeface="Calibri"/>
              </a:rPr>
              <a:t>Ereignisse: höchstens 10 je Objekt, ältestes wird bei Überlauf verworfen und gezählt.</a:t>
            </a:r>
          </a:p>
          <a:p>
            <a:pPr marL="457200" indent="-330200">
              <a:spcBef>
                <a:spcPts val="900"/>
              </a:spcBef>
              <a:buClr>
                <a:srgbClr val="0F2E2E"/>
              </a:buClr>
              <a:buSzPts val="1400"/>
              <a:buFont typeface="Calibri"/>
              <a:buChar char="●"/>
            </a:pPr>
            <a:r>
              <a:rPr sz="1300" b="0" i="0">
                <a:solidFill>
                  <a:srgbClr val="0F2E2E"/>
                </a:solidFill>
                <a:latin typeface="Calibri"/>
              </a:rPr>
              <a:t>Eine Abfrage leert den Puffer.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Objektmodell - Stellvertreter und Adapter</a:t>
            </a:r>
          </a:p>
        </p:txBody>
      </p:sp>
      <p:sp>
        <p:nvSpPr>
          <p:cNvPr id="3" name="Text Placeholder 2"/>
          <p:cNvSpPr>
            <a:spLocks noGrp="1"/>
          </p:cNvSpPr>
          <p:nvPr>
            <p:ph type="body" idx="1"/>
          </p:nvPr>
        </p:nvSpPr>
        <p:spPr>
          <a:xfrm>
            <a:off x="5000000" y="1152475"/>
            <a:ext cx="3450000" cy="3416400"/>
          </a:xfrm>
        </p:spPr>
        <p:txBody>
          <a:bodyPr wrap="square"/>
          <a:lstStyle/>
          <a:p>
            <a:pPr marL="457200" indent="-330200">
              <a:spcBef>
                <a:spcPts val="0"/>
              </a:spcBef>
              <a:buClr>
                <a:srgbClr val="0F2E2E"/>
              </a:buClr>
              <a:buSzPts val="1400"/>
              <a:buFont typeface="Calibri"/>
              <a:buChar char="●"/>
            </a:pPr>
            <a:r>
              <a:rPr sz="1400" b="0" i="0">
                <a:solidFill>
                  <a:srgbClr val="0F2E2E"/>
                </a:solidFill>
                <a:latin typeface="Calibri"/>
              </a:rPr>
              <a:t>Basisklasse je Typ in display/protocol</a:t>
            </a:r>
          </a:p>
          <a:p>
            <a:pPr marL="457200" indent="-330200">
              <a:spcBef>
                <a:spcPts val="900"/>
              </a:spcBef>
              <a:buClr>
                <a:srgbClr val="0F2E2E"/>
              </a:buClr>
              <a:buSzPts val="1400"/>
              <a:buFont typeface="Calibri"/>
              <a:buChar char="●"/>
            </a:pPr>
            <a:r>
              <a:rPr sz="1400" b="0" i="0">
                <a:solidFill>
                  <a:srgbClr val="0F2E2E"/>
                </a:solidFill>
                <a:latin typeface="Calibri"/>
              </a:rPr>
              <a:t>Client: Stellvertreter, Server: Adapter</a:t>
            </a:r>
          </a:p>
          <a:p>
            <a:pPr marL="457200" indent="-330200">
              <a:spcBef>
                <a:spcPts val="900"/>
              </a:spcBef>
              <a:buClr>
                <a:srgbClr val="0F2E2E"/>
              </a:buClr>
              <a:buSzPts val="1400"/>
              <a:buFont typeface="Calibri"/>
              <a:buChar char="●"/>
            </a:pPr>
            <a:r>
              <a:rPr sz="1400" b="0" i="0">
                <a:solidFill>
                  <a:srgbClr val="0F2E2E"/>
                </a:solidFill>
                <a:latin typeface="Calibri"/>
              </a:rPr>
              <a:t>Stellvertreter hält ein RemoteObject (keine Mehrfachvererbung in Pybricks)</a:t>
            </a:r>
          </a:p>
          <a:p>
            <a:pPr marL="457200" indent="-330200">
              <a:spcBef>
                <a:spcPts val="900"/>
              </a:spcBef>
              <a:buClr>
                <a:srgbClr val="0F2E2E"/>
              </a:buClr>
              <a:buSzPts val="1400"/>
              <a:buFont typeface="Calibri"/>
              <a:buChar char="●"/>
            </a:pPr>
            <a:r>
              <a:rPr sz="1400" b="0" i="0">
                <a:solidFill>
                  <a:srgbClr val="0F2E2E"/>
                </a:solidFill>
                <a:latin typeface="Calibri"/>
              </a:rPr>
              <a:t>Adapter erbt von RPCDispatcher, erreichbar über den Scope</a:t>
            </a:r>
          </a:p>
          <a:p>
            <a:pPr marL="457200" indent="-330200">
              <a:spcBef>
                <a:spcPts val="900"/>
              </a:spcBef>
              <a:buClr>
                <a:srgbClr val="0F2E2E"/>
              </a:buClr>
              <a:buSzPts val="1400"/>
              <a:buFont typeface="Calibri"/>
              <a:buChar char="●"/>
            </a:pPr>
            <a:r>
              <a:rPr sz="1400" b="0" i="0">
                <a:solidFill>
                  <a:srgbClr val="0F2E2E"/>
                </a:solidFill>
                <a:latin typeface="Calibri"/>
              </a:rPr>
              <a:t>Button = zwei Objekte (Button und Label)</a:t>
            </a:r>
          </a:p>
        </p:txBody>
      </p:sp>
      <p:pic>
        <p:nvPicPr>
          <p:cNvPr id="4" name="Picture 3" descr="objektmodell.png"/>
          <p:cNvPicPr>
            <a:picLocks noChangeAspect="1"/>
          </p:cNvPicPr>
          <p:nvPr/>
        </p:nvPicPr>
        <p:blipFill>
          <a:blip r:embed="rId3"/>
          <a:stretch>
            <a:fillRect/>
          </a:stretch>
        </p:blipFill>
        <p:spPr>
          <a:xfrm>
            <a:off x="311700" y="1150000"/>
            <a:ext cx="3966604" cy="31089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Referenzen und veraltete Stellvertreter</a:t>
            </a:r>
          </a:p>
        </p:txBody>
      </p:sp>
      <p:sp>
        <p:nvSpPr>
          <p:cNvPr id="3" name="Text Placeholder 2"/>
          <p:cNvSpPr>
            <a:spLocks noGrp="1"/>
          </p:cNvSpPr>
          <p:nvPr>
            <p:ph type="body" idx="1"/>
          </p:nvPr>
        </p:nvSpPr>
        <p:spPr>
          <a:xfrm>
            <a:off x="4400000" y="1152475"/>
            <a:ext cx="40500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Referenz: 16 Bit</a:t>
            </a:r>
          </a:p>
          <a:p>
            <a:pPr marL="457200" indent="0">
              <a:spcBef>
                <a:spcPts val="100"/>
              </a:spcBef>
              <a:buNone/>
            </a:pPr>
            <a:r>
              <a:rPr sz="1200" b="0" i="0">
                <a:solidFill>
                  <a:srgbClr val="5B6B6B"/>
                </a:solidFill>
                <a:latin typeface="Calibri"/>
              </a:rPr>
              <a:t>10 Bit Slot, 6 Bit Generation (steigt bei jeder Freigabe).</a:t>
            </a:r>
          </a:p>
          <a:p>
            <a:pPr marL="457200" indent="-330200">
              <a:spcBef>
                <a:spcPts val="900"/>
              </a:spcBef>
              <a:buClr>
                <a:srgbClr val="0F2E2E"/>
              </a:buClr>
              <a:buSzPts val="1400"/>
              <a:buFont typeface="Calibri"/>
              <a:buChar char="●"/>
            </a:pPr>
            <a:r>
              <a:rPr sz="1400" b="1" i="0">
                <a:solidFill>
                  <a:srgbClr val="0F2E2E"/>
                </a:solidFill>
                <a:latin typeface="Calibri"/>
              </a:rPr>
              <a:t>Zwei Prüfungen</a:t>
            </a:r>
          </a:p>
          <a:p>
            <a:pPr marL="457200" indent="0">
              <a:spcBef>
                <a:spcPts val="100"/>
              </a:spcBef>
              <a:buNone/>
            </a:pPr>
            <a:r>
              <a:rPr sz="1200" b="0" i="0">
                <a:solidFill>
                  <a:srgbClr val="5B6B6B"/>
                </a:solidFill>
                <a:latin typeface="Calibri"/>
              </a:rPr>
              <a:t>Server prüft Generation und Art. Client: Session endet bei clear() und Verbindungsabbruch.</a:t>
            </a:r>
          </a:p>
          <a:p>
            <a:pPr marL="457200" indent="-330200">
              <a:spcBef>
                <a:spcPts val="900"/>
              </a:spcBef>
              <a:buClr>
                <a:srgbClr val="0F2E2E"/>
              </a:buClr>
              <a:buSzPts val="1400"/>
              <a:buFont typeface="Calibri"/>
              <a:buChar char="●"/>
            </a:pPr>
            <a:r>
              <a:rPr sz="1400" b="1" i="0">
                <a:solidFill>
                  <a:srgbClr val="0F2E2E"/>
                </a:solidFill>
                <a:latin typeface="Calibri"/>
              </a:rPr>
              <a:t>Ausnahmen</a:t>
            </a:r>
          </a:p>
          <a:p>
            <a:pPr marL="457200" indent="0">
              <a:spcBef>
                <a:spcPts val="100"/>
              </a:spcBef>
              <a:buNone/>
            </a:pPr>
            <a:r>
              <a:rPr sz="1200" b="0" i="0">
                <a:solidFill>
                  <a:srgbClr val="5B6B6B"/>
                </a:solidFill>
                <a:latin typeface="Calibri"/>
              </a:rPr>
              <a:t>StaleReferenceError, WrongKindError, RemoteError.</a:t>
            </a:r>
          </a:p>
          <a:p>
            <a:pPr marL="457200" indent="-330200">
              <a:spcBef>
                <a:spcPts val="900"/>
              </a:spcBef>
              <a:buClr>
                <a:srgbClr val="0F2E2E"/>
              </a:buClr>
              <a:buSzPts val="1400"/>
              <a:buFont typeface="Calibri"/>
              <a:buChar char="●"/>
            </a:pPr>
            <a:r>
              <a:rPr sz="1400" b="1" i="0">
                <a:solidFill>
                  <a:srgbClr val="0F2E2E"/>
                </a:solidFill>
                <a:latin typeface="Calibri"/>
              </a:rPr>
              <a:t>Restrisiko</a:t>
            </a:r>
          </a:p>
          <a:p>
            <a:pPr marL="457200" indent="0">
              <a:spcBef>
                <a:spcPts val="100"/>
              </a:spcBef>
              <a:buNone/>
            </a:pPr>
            <a:r>
              <a:rPr sz="1200" b="0" i="0">
                <a:solidFill>
                  <a:srgbClr val="5B6B6B"/>
                </a:solidFill>
                <a:latin typeface="Calibri"/>
              </a:rPr>
              <a:t>Generation wiederholt sich nach 64 Freigaben.</a:t>
            </a:r>
          </a:p>
        </p:txBody>
      </p:sp>
      <p:sp>
        <p:nvSpPr>
          <p:cNvPr id="4" name="TextBox 3"/>
          <p:cNvSpPr txBox="1"/>
          <p:nvPr/>
        </p:nvSpPr>
        <p:spPr>
          <a:xfrm>
            <a:off x="311700" y="1200000"/>
            <a:ext cx="3900000" cy="1900000"/>
          </a:xfrm>
          <a:prstGeom prst="rect">
            <a:avLst/>
          </a:prstGeom>
          <a:solidFill>
            <a:srgbClr val="F3F3F3"/>
          </a:solidFill>
        </p:spPr>
        <p:txBody>
          <a:bodyPr wrap="square" lIns="91425" rIns="91425" tIns="70000" bIns="70000">
            <a:spAutoFit/>
          </a:bodyPr>
          <a:lstStyle/>
          <a:p>
            <a:r>
              <a:rPr sz="1100" b="0" i="0">
                <a:solidFill>
                  <a:srgbClr val="0F2E2E"/>
                </a:solidFill>
                <a:latin typeface="Courier New"/>
              </a:rPr>
              <a:t>def _slot(self, ref):</a:t>
            </a:r>
          </a:p>
          <a:p>
            <a:r>
              <a:rPr sz="1100" b="0" i="0">
                <a:solidFill>
                  <a:srgbClr val="0F2E2E"/>
                </a:solidFill>
                <a:latin typeface="Courier New"/>
              </a:rPr>
              <a:t>    index = ref &amp; SLOT_MASK</a:t>
            </a:r>
          </a:p>
          <a:p>
            <a:r>
              <a:rPr sz="1100" b="0" i="0">
                <a:solidFill>
                  <a:srgbClr val="0F2E2E"/>
                </a:solidFill>
                <a:latin typeface="Courier New"/>
              </a:rPr>
              <a:t>    slot = self._slots[index]</a:t>
            </a:r>
          </a:p>
          <a:p>
            <a:r>
              <a:rPr sz="1100" b="0" i="0">
                <a:solidFill>
                  <a:srgbClr val="0F2E2E"/>
                </a:solidFill>
                <a:latin typeface="Courier New"/>
              </a:rPr>
              <a:t>    if slot[2] is None or \</a:t>
            </a:r>
          </a:p>
          <a:p>
            <a:r>
              <a:rPr sz="1100" b="0" i="0">
                <a:solidFill>
                  <a:srgbClr val="0F2E2E"/>
                </a:solidFill>
                <a:latin typeface="Courier New"/>
              </a:rPr>
              <a:t>       slot[0] != ref &gt;&gt; SLOT_BITS:</a:t>
            </a:r>
          </a:p>
          <a:p>
            <a:r>
              <a:rPr sz="1100" b="0" i="0">
                <a:solidFill>
                  <a:srgbClr val="0F2E2E"/>
                </a:solidFill>
                <a:latin typeface="Courier New"/>
              </a:rPr>
              <a:t>        return None</a:t>
            </a:r>
          </a:p>
          <a:p>
            <a:r>
              <a:rPr sz="1100" b="0" i="0">
                <a:solidFill>
                  <a:srgbClr val="0F2E2E"/>
                </a:solidFill>
                <a:latin typeface="Courier New"/>
              </a:rPr>
              <a:t>    return slot</a:t>
            </a:r>
          </a:p>
        </p:txBody>
      </p:sp>
      <p:sp>
        <p:nvSpPr>
          <p:cNvPr id="5" name="TextBox 4"/>
          <p:cNvSpPr txBox="1"/>
          <p:nvPr/>
        </p:nvSpPr>
        <p:spPr>
          <a:xfrm>
            <a:off x="311700" y="3250000"/>
            <a:ext cx="3900000" cy="1200000"/>
          </a:xfrm>
          <a:prstGeom prst="rect">
            <a:avLst/>
          </a:prstGeom>
          <a:noFill/>
        </p:spPr>
        <p:txBody>
          <a:bodyPr wrap="square">
            <a:spAutoFit/>
          </a:bodyPr>
          <a:lstStyle/>
          <a:p>
            <a:pPr marL="457200" indent="-330200">
              <a:spcBef>
                <a:spcPts val="0"/>
              </a:spcBef>
              <a:buClr>
                <a:srgbClr val="0F2E2E"/>
              </a:buClr>
              <a:buSzPts val="1400"/>
              <a:buFont typeface="Calibri"/>
              <a:buChar char="●"/>
            </a:pPr>
            <a:r>
              <a:rPr sz="1200" b="0" i="0">
                <a:solidFill>
                  <a:srgbClr val="0F2E2E"/>
                </a:solidFill>
                <a:latin typeface="Calibri"/>
              </a:rPr>
              <a:t>release_tree: Objekt samt Kindern freigeben</a:t>
            </a:r>
          </a:p>
          <a:p>
            <a:pPr marL="457200" indent="-330200">
              <a:spcBef>
                <a:spcPts val="900"/>
              </a:spcBef>
              <a:buClr>
                <a:srgbClr val="0F2E2E"/>
              </a:buClr>
              <a:buSzPts val="1400"/>
              <a:buFont typeface="Calibri"/>
              <a:buChar char="●"/>
            </a:pPr>
            <a:r>
              <a:rPr sz="1200" b="0" i="0">
                <a:solidFill>
                  <a:srgbClr val="0F2E2E"/>
                </a:solidFill>
                <a:latin typeface="Calibri"/>
              </a:rPr>
              <a:t>clear(): leerer Screen laden, dann alle Screens löschen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Ansteuerung der Anzeige und Bindings</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Darstellung</a:t>
            </a:r>
          </a:p>
          <a:p>
            <a:pPr marL="457200" indent="0">
              <a:spcBef>
                <a:spcPts val="100"/>
              </a:spcBef>
              <a:buNone/>
            </a:pPr>
            <a:r>
              <a:rPr sz="1300" b="0" i="0">
                <a:solidFill>
                  <a:srgbClr val="5B6B6B"/>
                </a:solidFill>
                <a:latin typeface="Calibri"/>
              </a:rPr>
              <a:t>LVGL in MicroPython, ILI9341-Treiber. Zeichnen im festen Takt (40 ms); Adapter ändern nur den Zustand. Touch per Abfrage, Interrupt ungenutzt.</a:t>
            </a:r>
          </a:p>
          <a:p>
            <a:pPr marL="457200" indent="-330200">
              <a:spcBef>
                <a:spcPts val="900"/>
              </a:spcBef>
              <a:buClr>
                <a:srgbClr val="0F2E2E"/>
              </a:buClr>
              <a:buSzPts val="1400"/>
              <a:buFont typeface="Calibri"/>
              <a:buChar char="●"/>
            </a:pPr>
            <a:r>
              <a:rPr sz="1500" b="1" i="0">
                <a:solidFill>
                  <a:srgbClr val="0F2E2E"/>
                </a:solidFill>
                <a:latin typeface="Calibri"/>
              </a:rPr>
              <a:t>Ereignisse</a:t>
            </a:r>
          </a:p>
          <a:p>
            <a:pPr marL="457200" indent="0">
              <a:spcBef>
                <a:spcPts val="100"/>
              </a:spcBef>
              <a:buNone/>
            </a:pPr>
            <a:r>
              <a:rPr sz="1300" b="0" i="0">
                <a:solidFill>
                  <a:srgbClr val="5B6B6B"/>
                </a:solidFill>
                <a:latin typeface="Calibri"/>
              </a:rPr>
              <a:t>Ein Aufruf liefert den aktuellen Zustand und die Drucke seit der letzten Abfrage. Ohne diese Trennung ginge ein kurzer Tipp verloren.</a:t>
            </a:r>
          </a:p>
          <a:p>
            <a:pPr marL="457200" indent="-330200">
              <a:spcBef>
                <a:spcPts val="900"/>
              </a:spcBef>
              <a:buClr>
                <a:srgbClr val="0F2E2E"/>
              </a:buClr>
              <a:buSzPts val="1400"/>
              <a:buFont typeface="Calibri"/>
              <a:buChar char="●"/>
            </a:pPr>
            <a:r>
              <a:rPr sz="1500" b="1" i="0">
                <a:solidFill>
                  <a:srgbClr val="0F2E2E"/>
                </a:solidFill>
                <a:latin typeface="Calibri"/>
              </a:rPr>
              <a:t>Bindings</a:t>
            </a:r>
          </a:p>
          <a:p>
            <a:pPr marL="457200" indent="0">
              <a:spcBef>
                <a:spcPts val="100"/>
              </a:spcBef>
              <a:buNone/>
            </a:pPr>
            <a:r>
              <a:rPr sz="1300" b="0" i="0">
                <a:solidFill>
                  <a:srgbClr val="5B6B6B"/>
                </a:solidFill>
                <a:latin typeface="Calibri"/>
              </a:rPr>
              <a:t>Ein Ereignis auf Objekt A löst direkt auf dem Server eine Aktion auf Objekt B aus, ohne Übertragung. Aktionen: SHOW_SCREEN, SHOW, HIDE, TOGGLE.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Ablauf eines Aufrufs - label.set_text(...)</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311700" y="1200000"/>
          <a:ext cx="8138299" cy="2160000"/>
        </p:xfrm>
        <a:graphic>
          <a:graphicData uri="http://schemas.openxmlformats.org/drawingml/2006/table">
            <a:tbl>
              <a:tblPr firstRow="0" bandRow="0">
                <a:tableStyleId>{2D5ABB26-0587-4C30-8999-92F81FD0307C}</a:tableStyleId>
              </a:tblPr>
              <a:tblGrid>
                <a:gridCol w="1356383"/>
                <a:gridCol w="1898936"/>
                <a:gridCol w="4882980"/>
              </a:tblGrid>
              <a:tr h="360000">
                <a:tc>
                  <a:txBody>
                    <a:bodyPr wrap="square"/>
                    <a:lstStyle/>
                    <a:p>
                      <a:r>
                        <a:rPr sz="1300" b="1" i="0">
                          <a:solidFill>
                            <a:srgbClr val="FFFFFF"/>
                          </a:solidFill>
                          <a:latin typeface="Calibri"/>
                        </a:rPr>
                        <a:t>Round Trip</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Frame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Inhalt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1</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DATA</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Nutzlast, Frame 0</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2</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DATA</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Nutzlast, Frame 1</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3</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DATA_LAST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Nutzlast, letzte 6 Byte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4</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READY</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Ergebnis bereit? (Antwort DONE)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60000">
                <a:tc>
                  <a:txBody>
                    <a:bodyPr wrap="square"/>
                    <a:lstStyle/>
                    <a:p>
                      <a:r>
                        <a:rPr sz="1300" b="1" i="0">
                          <a:solidFill>
                            <a:srgbClr val="0F2E2E"/>
                          </a:solidFill>
                          <a:latin typeface="Calibri"/>
                        </a:rPr>
                        <a:t>5</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NEXT 0</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Ergebnisframe abholen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5" name="TextBox 4"/>
          <p:cNvSpPr txBox="1"/>
          <p:nvPr/>
        </p:nvSpPr>
        <p:spPr>
          <a:xfrm>
            <a:off x="311700" y="3700000"/>
            <a:ext cx="8138300" cy="1000000"/>
          </a:xfrm>
          <a:prstGeom prst="rect">
            <a:avLst/>
          </a:prstGeom>
          <a:noFill/>
        </p:spPr>
        <p:txBody>
          <a:bodyPr wrap="square">
            <a:spAutoFit/>
          </a:bodyPr>
          <a:lstStyle/>
          <a:p>
            <a:pPr marL="457200" indent="-330200">
              <a:spcBef>
                <a:spcPts val="0"/>
              </a:spcBef>
              <a:buClr>
                <a:srgbClr val="0F2E2E"/>
              </a:buClr>
              <a:buSzPts val="1400"/>
              <a:buFont typeface="Calibri"/>
              <a:buChar char="●"/>
            </a:pPr>
            <a:r>
              <a:rPr sz="1400" b="0" i="0">
                <a:solidFill>
                  <a:srgbClr val="0F2E2E"/>
                </a:solidFill>
                <a:latin typeface="Calibri"/>
              </a:rPr>
              <a:t>Nachricht: 32 Byte MessagePack, also ⌈32/13⌉ = 3 Frames</a:t>
            </a:r>
          </a:p>
          <a:p>
            <a:pPr marL="457200" indent="-330200">
              <a:spcBef>
                <a:spcPts val="900"/>
              </a:spcBef>
              <a:buClr>
                <a:srgbClr val="0F2E2E"/>
              </a:buClr>
              <a:buSzPts val="1400"/>
              <a:buFont typeface="Calibri"/>
              <a:buChar char="●"/>
            </a:pPr>
            <a:r>
              <a:rPr sz="1400" b="0" i="0">
                <a:solidFill>
                  <a:srgbClr val="0F2E2E"/>
                </a:solidFill>
                <a:latin typeface="Calibri"/>
              </a:rPr>
              <a:t>Nach Frame 3 bestätigt der Server, dann läuft die Ausführung als eigener Task</a:t>
            </a:r>
          </a:p>
          <a:p>
            <a:pPr marL="457200" indent="-330200">
              <a:spcBef>
                <a:spcPts val="900"/>
              </a:spcBef>
              <a:buClr>
                <a:srgbClr val="0F2E2E"/>
              </a:buClr>
              <a:buSzPts val="1400"/>
              <a:buFont typeface="Calibri"/>
              <a:buChar char="●"/>
            </a:pPr>
            <a:r>
              <a:rPr sz="1400" b="0" i="0">
                <a:solidFill>
                  <a:srgbClr val="0F2E2E"/>
                </a:solidFill>
                <a:latin typeface="Calibri"/>
              </a:rPr>
              <a:t>Minimum: 5 Round Trips, davon zwei nur zum Abholen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Zustände eines Aufrufs - Client</a:t>
            </a:r>
          </a:p>
        </p:txBody>
      </p:sp>
      <p:pic>
        <p:nvPicPr>
          <p:cNvPr id="3" name="Picture 2" descr="automat_client.png"/>
          <p:cNvPicPr>
            <a:picLocks noChangeAspect="1"/>
          </p:cNvPicPr>
          <p:nvPr/>
        </p:nvPicPr>
        <p:blipFill>
          <a:blip r:embed="rId3"/>
          <a:stretch>
            <a:fillRect/>
          </a:stretch>
        </p:blipFill>
        <p:spPr>
          <a:xfrm>
            <a:off x="311700" y="1150000"/>
            <a:ext cx="5910762" cy="35661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Zustände eines Aufrufs - Server</a:t>
            </a:r>
          </a:p>
        </p:txBody>
      </p:sp>
      <p:sp>
        <p:nvSpPr>
          <p:cNvPr id="3" name="Text Placeholder 2"/>
          <p:cNvSpPr>
            <a:spLocks noGrp="1"/>
          </p:cNvSpPr>
          <p:nvPr>
            <p:ph type="body" idx="1"/>
          </p:nvPr>
        </p:nvSpPr>
        <p:spPr>
          <a:xfrm>
            <a:off x="5011740" y="1152475"/>
            <a:ext cx="3438260" cy="3416400"/>
          </a:xfrm>
        </p:spPr>
        <p:txBody>
          <a:bodyPr wrap="square"/>
          <a:lstStyle/>
          <a:p>
            <a:pPr marL="457200" indent="-330200">
              <a:spcBef>
                <a:spcPts val="0"/>
              </a:spcBef>
              <a:buClr>
                <a:srgbClr val="0F2E2E"/>
              </a:buClr>
              <a:buSzPts val="1400"/>
              <a:buFont typeface="Calibri"/>
              <a:buChar char="●"/>
            </a:pPr>
            <a:r>
              <a:rPr sz="1300" b="0" i="0">
                <a:solidFill>
                  <a:srgbClr val="0F2E2E"/>
                </a:solidFill>
                <a:latin typeface="Calibri"/>
              </a:rPr>
              <a:t>Bekannte Position: bestätigen, nicht erneut ablegen</a:t>
            </a:r>
          </a:p>
          <a:p>
            <a:pPr marL="457200" indent="-330200">
              <a:spcBef>
                <a:spcPts val="900"/>
              </a:spcBef>
              <a:buClr>
                <a:srgbClr val="0F2E2E"/>
              </a:buClr>
              <a:buSzPts val="1400"/>
              <a:buFont typeface="Calibri"/>
              <a:buChar char="●"/>
            </a:pPr>
            <a:r>
              <a:rPr sz="1300" b="0" i="0">
                <a:solidFill>
                  <a:srgbClr val="0F2E2E"/>
                </a:solidFill>
                <a:latin typeface="Calibri"/>
              </a:rPr>
              <a:t>Wiederholter letzter Frame: nicht erneut ausführen</a:t>
            </a:r>
          </a:p>
          <a:p>
            <a:pPr marL="457200" indent="-330200">
              <a:spcBef>
                <a:spcPts val="900"/>
              </a:spcBef>
              <a:buClr>
                <a:srgbClr val="0F2E2E"/>
              </a:buClr>
              <a:buSzPts val="1400"/>
              <a:buFont typeface="Calibri"/>
              <a:buChar char="●"/>
            </a:pPr>
            <a:r>
              <a:rPr sz="1300" b="0" i="0">
                <a:solidFill>
                  <a:srgbClr val="0F2E2E"/>
                </a:solidFill>
                <a:latin typeface="Calibri"/>
              </a:rPr>
              <a:t>Ergibt At-most-once</a:t>
            </a:r>
          </a:p>
          <a:p>
            <a:pPr marL="457200" indent="-330200">
              <a:spcBef>
                <a:spcPts val="900"/>
              </a:spcBef>
              <a:buClr>
                <a:srgbClr val="0F2E2E"/>
              </a:buClr>
              <a:buSzPts val="1400"/>
              <a:buFont typeface="Calibri"/>
              <a:buChar char="●"/>
            </a:pPr>
            <a:r>
              <a:rPr sz="1300" b="0" i="0">
                <a:solidFill>
                  <a:srgbClr val="0F2E2E"/>
                </a:solidFill>
                <a:latin typeface="Calibri"/>
              </a:rPr>
              <a:t>Kennung wiederverwendet: alter Eintrag wird verworfen</a:t>
            </a:r>
          </a:p>
        </p:txBody>
      </p:sp>
      <p:pic>
        <p:nvPicPr>
          <p:cNvPr id="4" name="Picture 3" descr="automat_server.png"/>
          <p:cNvPicPr>
            <a:picLocks noChangeAspect="1"/>
          </p:cNvPicPr>
          <p:nvPr/>
        </p:nvPicPr>
        <p:blipFill>
          <a:blip r:embed="rId3"/>
          <a:stretch>
            <a:fillRect/>
          </a:stretch>
        </p:blipFill>
        <p:spPr>
          <a:xfrm>
            <a:off x="311700" y="1150000"/>
            <a:ext cx="4550040" cy="33832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Nebenläufigkeit auf dem Server</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Client</a:t>
            </a:r>
          </a:p>
          <a:p>
            <a:pPr marL="457200" indent="0">
              <a:spcBef>
                <a:spcPts val="100"/>
              </a:spcBef>
              <a:buNone/>
            </a:pPr>
            <a:r>
              <a:rPr sz="1300" b="0" i="0">
                <a:solidFill>
                  <a:srgbClr val="5B6B6B"/>
                </a:solidFill>
                <a:latin typeface="Calibri"/>
              </a:rPr>
              <a:t>Keine Nebenläufigkeit. Ein Aufruf blockiert bis zum Ergebnis oder zur Obergrenze, dafür sind keine Sperren nötig.</a:t>
            </a:r>
          </a:p>
          <a:p>
            <a:pPr marL="457200" indent="-330200">
              <a:spcBef>
                <a:spcPts val="900"/>
              </a:spcBef>
              <a:buClr>
                <a:srgbClr val="0F2E2E"/>
              </a:buClr>
              <a:buSzPts val="1400"/>
              <a:buFont typeface="Calibri"/>
              <a:buChar char="●"/>
            </a:pPr>
            <a:r>
              <a:rPr sz="1500" b="1" i="0">
                <a:solidFill>
                  <a:srgbClr val="0F2E2E"/>
                </a:solidFill>
                <a:latin typeface="Calibri"/>
              </a:rPr>
              <a:t>Server: drei Tasks, ein Thread</a:t>
            </a:r>
          </a:p>
          <a:p>
            <a:pPr marL="457200" indent="0">
              <a:spcBef>
                <a:spcPts val="100"/>
              </a:spcBef>
              <a:buNone/>
            </a:pPr>
            <a:r>
              <a:rPr sz="1300" b="0" i="0">
                <a:solidFill>
                  <a:srgbClr val="5B6B6B"/>
                </a:solidFill>
                <a:latin typeface="Calibri"/>
              </a:rPr>
              <a:t>PUPRemote-process (etwa jede Millisekunde), LVGL-Task-Handler, je ein Task pro Aufruf, alle in einer uasyncio-Schleife.</a:t>
            </a:r>
          </a:p>
          <a:p>
            <a:pPr marL="457200" indent="-330200">
              <a:spcBef>
                <a:spcPts val="900"/>
              </a:spcBef>
              <a:buClr>
                <a:srgbClr val="0F2E2E"/>
              </a:buClr>
              <a:buSzPts val="1400"/>
              <a:buFont typeface="Calibri"/>
              <a:buChar char="●"/>
            </a:pPr>
            <a:r>
              <a:rPr sz="1500" b="1" i="0">
                <a:solidFill>
                  <a:srgbClr val="0F2E2E"/>
                </a:solidFill>
                <a:latin typeface="Calibri"/>
              </a:rPr>
              <a:t>Warum kein eigener Thread?</a:t>
            </a:r>
          </a:p>
          <a:p>
            <a:pPr marL="457200" indent="0">
              <a:spcBef>
                <a:spcPts val="100"/>
              </a:spcBef>
              <a:buNone/>
            </a:pPr>
            <a:r>
              <a:rPr sz="1300" b="0" i="0">
                <a:solidFill>
                  <a:srgbClr val="5B6B6B"/>
                </a:solidFill>
                <a:latin typeface="Calibri"/>
              </a:rPr>
              <a:t>Der Stack kommt vom Heap, den LVGL fast aufbraucht, und LVGL ist nicht reentrant. Preis der Lösung: Die Schleife ist während eines Aufrufs belegt.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Fehlerbehandlung je Schicht</a:t>
            </a:r>
          </a:p>
        </p:txBody>
      </p:sp>
      <p:graphicFrame>
        <p:nvGraphicFramePr>
          <p:cNvPr id="3" name="Table 2"/>
          <p:cNvGraphicFramePr>
            <a:graphicFrameLocks noGrp="1"/>
          </p:cNvGraphicFramePr>
          <p:nvPr/>
        </p:nvGraphicFramePr>
        <p:xfrm>
          <a:off x="311700" y="1150000"/>
          <a:ext cx="8138300" cy="3420000"/>
        </p:xfrm>
        <a:graphic>
          <a:graphicData uri="http://schemas.openxmlformats.org/drawingml/2006/table">
            <a:tbl>
              <a:tblPr firstRow="0" bandRow="0">
                <a:tableStyleId>{2D5ABB26-0587-4C30-8999-92F81FD0307C}</a:tableStyleId>
              </a:tblPr>
              <a:tblGrid>
                <a:gridCol w="3255320"/>
                <a:gridCol w="1627660"/>
                <a:gridCol w="3255320"/>
              </a:tblGrid>
              <a:tr h="380000">
                <a:tc>
                  <a:txBody>
                    <a:bodyPr wrap="square"/>
                    <a:lstStyle/>
                    <a:p>
                      <a:r>
                        <a:rPr sz="1200" b="1" i="0">
                          <a:solidFill>
                            <a:srgbClr val="FFFFFF"/>
                          </a:solidFill>
                          <a:latin typeface="Calibri"/>
                        </a:rPr>
                        <a:t>Fehler</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1" i="0">
                          <a:solidFill>
                            <a:srgbClr val="FFFFFF"/>
                          </a:solidFill>
                          <a:latin typeface="Calibri"/>
                        </a:rPr>
                        <a:t>Schicht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1" i="0">
                          <a:solidFill>
                            <a:srgbClr val="FFFFFF"/>
                          </a:solidFill>
                          <a:latin typeface="Calibri"/>
                        </a:rPr>
                        <a:t>Behandlung</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Veraltete Antwort, verlorene Bestätigung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Transport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Frame erneut senden, max. 8 Versuche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Wiederholter Frame (Server)</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Transport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bestätigen, nicht erneut ablegen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Abgebrochene Übertragung</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Transport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Reste verwerfen bei Frame Nr. 0</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Ergebnis bleibt aus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Kommunikation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nach 5000 ms Ausnahme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Unbekannter Scope / Methode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Kommunikation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Fehlermeldung, RemoteError</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Veraltete Referenz, falsche Art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Objektmodell</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StaleReferenceError, WrongKindError</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Verbindungsabbruch</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Bus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Session beenden, OSError</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200" b="1" i="0">
                          <a:solidFill>
                            <a:srgbClr val="0F2E2E"/>
                          </a:solidFill>
                          <a:latin typeface="Calibri"/>
                        </a:rPr>
                        <a:t>Touch-Lesefehler</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Anzeige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200" b="0" i="0">
                          <a:solidFill>
                            <a:srgbClr val="0F2E2E"/>
                          </a:solidFill>
                          <a:latin typeface="Calibri"/>
                        </a:rPr>
                        <a:t>als keine Berührung werten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0" i="0">
                <a:solidFill>
                  <a:srgbClr val="0F2E2E"/>
                </a:solidFill>
                <a:latin typeface="Calibri"/>
              </a:rPr>
              <a:t>Evaluation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Funktionaler Nachweis und Testumgebung</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Am Aufbau</a:t>
            </a:r>
          </a:p>
          <a:p>
            <a:pPr marL="457200" indent="0">
              <a:spcBef>
                <a:spcPts val="100"/>
              </a:spcBef>
              <a:buNone/>
            </a:pPr>
            <a:r>
              <a:rPr sz="1300" b="0" i="0">
                <a:solidFill>
                  <a:srgbClr val="5B6B6B"/>
                </a:solidFill>
                <a:latin typeface="Calibri"/>
              </a:rPr>
              <a:t>Das Beispielprogramm nutzt alle Teile des Objektmodells. 640 Aufrufe in Folge: keine Wiederholung, kein Fehler.</a:t>
            </a:r>
          </a:p>
          <a:p>
            <a:pPr marL="457200" indent="-330200">
              <a:spcBef>
                <a:spcPts val="900"/>
              </a:spcBef>
              <a:buClr>
                <a:srgbClr val="0F2E2E"/>
              </a:buClr>
              <a:buSzPts val="1400"/>
              <a:buFont typeface="Calibri"/>
              <a:buChar char="●"/>
            </a:pPr>
            <a:r>
              <a:rPr sz="1500" b="1" i="0">
                <a:solidFill>
                  <a:srgbClr val="0F2E2E"/>
                </a:solidFill>
                <a:latin typeface="Calibri"/>
              </a:rPr>
              <a:t>Testumgebung unter CPython</a:t>
            </a:r>
          </a:p>
          <a:p>
            <a:pPr marL="457200" indent="0">
              <a:spcBef>
                <a:spcPts val="100"/>
              </a:spcBef>
              <a:buNone/>
            </a:pPr>
            <a:r>
              <a:rPr sz="1300" b="0" i="0">
                <a:solidFill>
                  <a:srgbClr val="5B6B6B"/>
                </a:solidFill>
                <a:latin typeface="Calibri"/>
              </a:rPr>
              <a:t>Gleiche Adapter, Stellvertreter und Interceptoren; ersetzt sind nur Hardware, LVGL und Laufzeit. Zweite Busanbindung: derselbe Code über zwei Wege (K6).</a:t>
            </a:r>
          </a:p>
          <a:p>
            <a:pPr marL="457200" indent="-330200">
              <a:spcBef>
                <a:spcPts val="900"/>
              </a:spcBef>
              <a:buClr>
                <a:srgbClr val="0F2E2E"/>
              </a:buClr>
              <a:buSzPts val="1400"/>
              <a:buFont typeface="Calibri"/>
              <a:buChar char="●"/>
            </a:pPr>
            <a:r>
              <a:rPr sz="1500" b="1" i="0">
                <a:solidFill>
                  <a:srgbClr val="0F2E2E"/>
                </a:solidFill>
                <a:latin typeface="Calibri"/>
              </a:rPr>
              <a:t>Gezielt erzeugte Fehler</a:t>
            </a:r>
          </a:p>
          <a:p>
            <a:pPr marL="457200" indent="0">
              <a:spcBef>
                <a:spcPts val="100"/>
              </a:spcBef>
              <a:buNone/>
            </a:pPr>
            <a:r>
              <a:rPr sz="1300" b="0" i="0">
                <a:solidFill>
                  <a:srgbClr val="5B6B6B"/>
                </a:solidFill>
                <a:latin typeface="Calibri"/>
              </a:rPr>
              <a:t>Jede n-te Antwort veraltet, Verbindungsabbruch, Ereignispuffer über die Grenze gefüllt. Grenze: kein zweiter realer Bus.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Übertragungsaufwand - Round Trips je Aufruf</a:t>
            </a:r>
          </a:p>
        </p:txBody>
      </p:sp>
      <p:sp>
        <p:nvSpPr>
          <p:cNvPr id="3" name="Text Placeholder 2"/>
          <p:cNvSpPr>
            <a:spLocks noGrp="1"/>
          </p:cNvSpPr>
          <p:nvPr>
            <p:ph type="body" idx="1"/>
          </p:nvPr>
        </p:nvSpPr>
        <p:spPr>
          <a:xfrm>
            <a:off x="5650000" y="1152475"/>
            <a:ext cx="2800000" cy="3416400"/>
          </a:xfrm>
        </p:spPr>
        <p:txBody>
          <a:bodyPr wrap="square"/>
          <a:lstStyle/>
          <a:p>
            <a:pPr marL="457200" indent="-330200">
              <a:spcBef>
                <a:spcPts val="0"/>
              </a:spcBef>
              <a:buClr>
                <a:srgbClr val="0F2E2E"/>
              </a:buClr>
              <a:buSzPts val="1400"/>
              <a:buFont typeface="Calibri"/>
              <a:buChar char="●"/>
            </a:pPr>
            <a:r>
              <a:rPr sz="1300" b="1" i="0">
                <a:solidFill>
                  <a:srgbClr val="0F2E2E"/>
                </a:solidFill>
                <a:latin typeface="Calibri"/>
              </a:rPr>
              <a:t>114,2 ms je Round Trip</a:t>
            </a:r>
          </a:p>
          <a:p>
            <a:pPr marL="457200" indent="0">
              <a:spcBef>
                <a:spcPts val="100"/>
              </a:spcBef>
              <a:buNone/>
            </a:pPr>
            <a:r>
              <a:rPr sz="1100" b="0" i="0">
                <a:solidFill>
                  <a:srgbClr val="5B6B6B"/>
                </a:solidFill>
                <a:latin typeface="Calibri"/>
              </a:rPr>
              <a:t>Unabhängig von Format und Länge (σ = 0,3 ms).</a:t>
            </a:r>
          </a:p>
          <a:p>
            <a:pPr marL="457200" indent="-330200">
              <a:spcBef>
                <a:spcPts val="900"/>
              </a:spcBef>
              <a:buClr>
                <a:srgbClr val="0F2E2E"/>
              </a:buClr>
              <a:buSzPts val="1400"/>
              <a:buFont typeface="Calibri"/>
              <a:buChar char="●"/>
            </a:pPr>
            <a:r>
              <a:rPr sz="1300" b="1" i="0">
                <a:solidFill>
                  <a:srgbClr val="0F2E2E"/>
                </a:solidFill>
                <a:latin typeface="Calibri"/>
              </a:rPr>
              <a:t>Round Trips = N + 2</a:t>
            </a:r>
          </a:p>
          <a:p>
            <a:pPr marL="457200" indent="0">
              <a:spcBef>
                <a:spcPts val="100"/>
              </a:spcBef>
              <a:buNone/>
            </a:pPr>
            <a:r>
              <a:rPr sz="1100" b="0" i="0">
                <a:solidFill>
                  <a:srgbClr val="5B6B6B"/>
                </a:solidFill>
                <a:latin typeface="Calibri"/>
              </a:rPr>
              <a:t>Frames, READY, Ergebnisframe.</a:t>
            </a:r>
          </a:p>
          <a:p>
            <a:pPr marL="457200" indent="-330200">
              <a:spcBef>
                <a:spcPts val="900"/>
              </a:spcBef>
              <a:buClr>
                <a:srgbClr val="0F2E2E"/>
              </a:buClr>
              <a:buSzPts val="1400"/>
              <a:buFont typeface="Calibri"/>
              <a:buChar char="●"/>
            </a:pPr>
            <a:r>
              <a:rPr sz="1300" b="1" i="0">
                <a:solidFill>
                  <a:srgbClr val="0F2E2E"/>
                </a:solidFill>
                <a:latin typeface="Calibri"/>
              </a:rPr>
              <a:t>Rahmung vor Format</a:t>
            </a:r>
          </a:p>
          <a:p>
            <a:pPr marL="457200" indent="0">
              <a:spcBef>
                <a:spcPts val="100"/>
              </a:spcBef>
              <a:buNone/>
            </a:pPr>
            <a:r>
              <a:rPr sz="1100" b="0" i="0">
                <a:solidFill>
                  <a:srgbClr val="5B6B6B"/>
                </a:solidFill>
                <a:latin typeface="Calibri"/>
              </a:rPr>
              <a:t>7 Byte: 1,59×, JSON: 1,21×, beides: 2,09×.</a:t>
            </a:r>
          </a:p>
        </p:txBody>
      </p:sp>
      <p:graphicFrame>
        <p:nvGraphicFramePr>
          <p:cNvPr id="4" name="Chart 3"/>
          <p:cNvGraphicFramePr>
            <a:graphicFrameLocks noGrp="1"/>
          </p:cNvGraphicFramePr>
          <p:nvPr/>
        </p:nvGraphicFramePr>
        <p:xfrm>
          <a:off x="311700" y="1050000"/>
          <a:ext cx="5200000" cy="3500000"/>
        </p:xfrm>
        <a:graphic>
          <a:graphicData uri="http://schemas.openxmlformats.org/drawingml/2006/chart">
            <c:chart xmlns:c="http://schemas.openxmlformats.org/drawingml/2006/chart" r:id="rId3"/>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Reaktionszeit einer Berührung (K4)</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311700" y="1150000"/>
          <a:ext cx="8138298" cy="2960000"/>
        </p:xfrm>
        <a:graphic>
          <a:graphicData uri="http://schemas.openxmlformats.org/drawingml/2006/table">
            <a:tbl>
              <a:tblPr firstRow="0" bandRow="0">
                <a:tableStyleId>{2D5ABB26-0587-4C30-8999-92F81FD0307C}</a:tableStyleId>
              </a:tblPr>
              <a:tblGrid>
                <a:gridCol w="4200412"/>
                <a:gridCol w="1837680"/>
                <a:gridCol w="2100206"/>
              </a:tblGrid>
              <a:tr h="370000">
                <a:tc>
                  <a:txBody>
                    <a:bodyPr wrap="square"/>
                    <a:lstStyle/>
                    <a:p>
                      <a:r>
                        <a:rPr sz="1300" b="1" i="0">
                          <a:solidFill>
                            <a:srgbClr val="FFFFFF"/>
                          </a:solidFill>
                          <a:latin typeface="Calibri"/>
                        </a:rPr>
                        <a:t>Teilstrecke</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Binding</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über Client</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Erkennung (LVGL, 40 ms Takt)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Ø 20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Ø 20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Verarbeitung des Ereignisses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4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4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Warten auf nächste Abfrage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entfällt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Ø 296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Abfrage und Reaktion</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entfällt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1161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Neuzeichnen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6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7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Summe im Mittel</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33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 1490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70000">
                <a:tc>
                  <a:txBody>
                    <a:bodyPr wrap="square"/>
                    <a:lstStyle/>
                    <a:p>
                      <a:r>
                        <a:rPr sz="1300" b="1" i="0">
                          <a:solidFill>
                            <a:srgbClr val="0F2E2E"/>
                          </a:solidFill>
                          <a:latin typeface="Calibri"/>
                        </a:rPr>
                        <a:t>Summe ungünstigster Fall</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57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 1800 ms</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5" name="TextBox 4"/>
          <p:cNvSpPr txBox="1"/>
          <p:nvPr/>
        </p:nvSpPr>
        <p:spPr>
          <a:xfrm>
            <a:off x="311700" y="4250000"/>
            <a:ext cx="8138300" cy="500000"/>
          </a:xfrm>
          <a:prstGeom prst="rect">
            <a:avLst/>
          </a:prstGeom>
          <a:noFill/>
        </p:spPr>
        <p:txBody>
          <a:bodyPr wrap="square">
            <a:spAutoFit/>
          </a:bodyPr>
          <a:lstStyle/>
          <a:p>
            <a:pPr marL="457200" indent="-330200">
              <a:spcBef>
                <a:spcPts val="0"/>
              </a:spcBef>
              <a:buClr>
                <a:srgbClr val="0F2E2E"/>
              </a:buClr>
              <a:buSzPts val="1400"/>
              <a:buFont typeface="Calibri"/>
              <a:buChar char="●"/>
            </a:pPr>
            <a:r>
              <a:rPr sz="1300" b="0" i="0">
                <a:solidFill>
                  <a:srgbClr val="0F2E2E"/>
                </a:solidFill>
                <a:latin typeface="Calibri"/>
              </a:rPr>
              <a:t>K3: 20 von 20 kurzen Tippern erkannt, keiner verloren (Pausen 0, 20, 1000 ms)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Ergebnis - Anforderungen und Ressourcen</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311700" y="1150000"/>
          <a:ext cx="8138298" cy="2660000"/>
        </p:xfrm>
        <a:graphic>
          <a:graphicData uri="http://schemas.openxmlformats.org/drawingml/2006/table">
            <a:tbl>
              <a:tblPr firstRow="0" bandRow="0">
                <a:tableStyleId>{2D5ABB26-0587-4C30-8999-92F81FD0307C}</a:tableStyleId>
              </a:tblPr>
              <a:tblGrid>
                <a:gridCol w="707678"/>
                <a:gridCol w="5897318"/>
                <a:gridCol w="1533302"/>
              </a:tblGrid>
              <a:tr h="380000">
                <a:tc>
                  <a:txBody>
                    <a:bodyPr wrap="square"/>
                    <a:lstStyle/>
                    <a:p>
                      <a:r>
                        <a:rPr sz="1300" b="1" i="0">
                          <a:solidFill>
                            <a:srgbClr val="FFFFFF"/>
                          </a:solidFill>
                          <a:latin typeface="Calibri"/>
                        </a:rPr>
                        <a:t>Nr.</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Anforderung</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1" i="0">
                          <a:solidFill>
                            <a:srgbClr val="FFFFFF"/>
                          </a:solidFill>
                          <a:latin typeface="Calibri"/>
                        </a:rPr>
                        <a:t>Stand</a:t>
                      </a:r>
                    </a:p>
                  </a:txBody>
                  <a:tcPr marL="70000" marR="70000" marT="30000" marB="30000">
                    <a:solidFill>
                      <a:srgbClr val="0F2E2E"/>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K1</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Strukturierte Nachrichten (bis 3315 Byte)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erfüllt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K2</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Zuordenbares Ergebnis (640 Aufrufe)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erfüllt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K3</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Rückfluss von Ereignissen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erfüllt</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K4</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Antwortzeit &lt; 100 ms (nur über Binding: 57 ms)</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teilweise</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K5</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Begrenzter Speicher (Server nicht gemessen)</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teilweise</a:t>
                      </a:r>
                    </a:p>
                  </a:txBody>
                  <a:tcPr marL="70000" marR="70000" marT="30000" marB="30000">
                    <a:solidFill>
                      <a:srgbClr val="FFFFFF"/>
                    </a:solidFill>
                    <a:lnL w="6350">
                      <a:solidFill>
                        <a:srgbClr val="D0D5D5"/>
                      </a:solidFill>
                    </a:lnL>
                    <a:lnR w="6350">
                      <a:solidFill>
                        <a:srgbClr val="D0D5D5"/>
                      </a:solidFill>
                    </a:lnR>
                    <a:lnT w="6350">
                      <a:solidFill>
                        <a:srgbClr val="D0D5D5"/>
                      </a:solidFill>
                    </a:lnT>
                    <a:lnB w="6350">
                      <a:solidFill>
                        <a:srgbClr val="D0D5D5"/>
                      </a:solidFill>
                    </a:lnB>
                  </a:tcPr>
                </a:tc>
              </a:tr>
              <a:tr h="380000">
                <a:tc>
                  <a:txBody>
                    <a:bodyPr wrap="square"/>
                    <a:lstStyle/>
                    <a:p>
                      <a:r>
                        <a:rPr sz="1300" b="1" i="0">
                          <a:solidFill>
                            <a:srgbClr val="0F2E2E"/>
                          </a:solidFill>
                          <a:latin typeface="Calibri"/>
                        </a:rPr>
                        <a:t>K6</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Unabhängigkeit vom Übertragungsweg</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c>
                  <a:txBody>
                    <a:bodyPr wrap="square"/>
                    <a:lstStyle/>
                    <a:p>
                      <a:r>
                        <a:rPr sz="1300" b="0" i="0">
                          <a:solidFill>
                            <a:srgbClr val="0F2E2E"/>
                          </a:solidFill>
                          <a:latin typeface="Calibri"/>
                        </a:rPr>
                        <a:t>erfüllt</a:t>
                      </a:r>
                    </a:p>
                  </a:txBody>
                  <a:tcPr marL="70000" marR="70000" marT="30000" marB="30000">
                    <a:solidFill>
                      <a:srgbClr val="F3F3F3"/>
                    </a:solidFill>
                    <a:lnL w="6350">
                      <a:solidFill>
                        <a:srgbClr val="D0D5D5"/>
                      </a:solidFill>
                    </a:lnL>
                    <a:lnR w="6350">
                      <a:solidFill>
                        <a:srgbClr val="D0D5D5"/>
                      </a:solidFill>
                    </a:lnR>
                    <a:lnT w="6350">
                      <a:solidFill>
                        <a:srgbClr val="D0D5D5"/>
                      </a:solidFill>
                    </a:lnT>
                    <a:lnB w="6350">
                      <a:solidFill>
                        <a:srgbClr val="D0D5D5"/>
                      </a:solidFill>
                    </a:lnB>
                  </a:tcPr>
                </a:tc>
              </a:tr>
            </a:tbl>
          </a:graphicData>
        </a:graphic>
      </p:graphicFrame>
      <p:sp>
        <p:nvSpPr>
          <p:cNvPr id="5" name="TextBox 4"/>
          <p:cNvSpPr txBox="1"/>
          <p:nvPr/>
        </p:nvSpPr>
        <p:spPr>
          <a:xfrm>
            <a:off x="311700" y="4100000"/>
            <a:ext cx="8138300" cy="600000"/>
          </a:xfrm>
          <a:prstGeom prst="rect">
            <a:avLst/>
          </a:prstGeom>
          <a:noFill/>
        </p:spPr>
        <p:txBody>
          <a:bodyPr wrap="square">
            <a:spAutoFit/>
          </a:bodyPr>
          <a:lstStyle/>
          <a:p>
            <a:pPr marL="457200" indent="-330200">
              <a:spcBef>
                <a:spcPts val="0"/>
              </a:spcBef>
              <a:buClr>
                <a:srgbClr val="0F2E2E"/>
              </a:buClr>
              <a:buSzPts val="1400"/>
              <a:buFont typeface="Calibri"/>
              <a:buChar char="●"/>
            </a:pPr>
            <a:r>
              <a:rPr sz="1300" b="0" i="0">
                <a:solidFill>
                  <a:srgbClr val="0F2E2E"/>
                </a:solidFill>
                <a:latin typeface="Calibri"/>
              </a:rPr>
              <a:t>Hub: 144 Byte für eine Oberfläche mit 2 Screens, 2 Labels, 2 Buttons; gebündelter Quelltext 68 KB</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0" i="0">
                <a:solidFill>
                  <a:srgbClr val="0F2E2E"/>
                </a:solidFill>
                <a:latin typeface="Calibri"/>
              </a:rPr>
              <a:t>Nutzung und Ausblick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Nutzung in zukünftigen Projekten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1. Hub vorbereiten</a:t>
            </a:r>
          </a:p>
          <a:p>
            <a:pPr marL="457200" indent="0">
              <a:spcBef>
                <a:spcPts val="100"/>
              </a:spcBef>
              <a:buNone/>
            </a:pPr>
            <a:r>
              <a:rPr sz="1200" b="0" i="0">
                <a:solidFill>
                  <a:srgbClr val="5B6B6B"/>
                </a:solidFill>
                <a:latin typeface="Calibri"/>
              </a:rPr>
              <a:t>Pybricks-Firmware auf den SPIKE Prime Hub flashen.</a:t>
            </a:r>
          </a:p>
          <a:p>
            <a:pPr marL="457200" indent="-330200">
              <a:spcBef>
                <a:spcPts val="900"/>
              </a:spcBef>
              <a:buClr>
                <a:srgbClr val="0F2E2E"/>
              </a:buClr>
              <a:buSzPts val="1400"/>
              <a:buFont typeface="Calibri"/>
              <a:buChar char="●"/>
            </a:pPr>
            <a:r>
              <a:rPr sz="1400" b="1" i="0">
                <a:solidFill>
                  <a:srgbClr val="0F2E2E"/>
                </a:solidFill>
                <a:latin typeface="Calibri"/>
              </a:rPr>
              <a:t>2. Display aufbauen</a:t>
            </a:r>
          </a:p>
          <a:p>
            <a:pPr marL="457200" indent="0">
              <a:spcBef>
                <a:spcPts val="100"/>
              </a:spcBef>
              <a:buNone/>
            </a:pPr>
            <a:r>
              <a:rPr sz="1200" b="0" i="0">
                <a:solidFill>
                  <a:srgbClr val="5B6B6B"/>
                </a:solidFill>
                <a:latin typeface="Calibri"/>
              </a:rPr>
              <a:t>LMS-ESP32 auf die Adapterplatine, Display aufstecken, an einen Sensorport des Hubs.</a:t>
            </a:r>
          </a:p>
          <a:p>
            <a:pPr marL="457200" indent="-330200">
              <a:spcBef>
                <a:spcPts val="900"/>
              </a:spcBef>
              <a:buClr>
                <a:srgbClr val="0F2E2E"/>
              </a:buClr>
              <a:buSzPts val="1400"/>
              <a:buFont typeface="Calibri"/>
              <a:buChar char="●"/>
            </a:pPr>
            <a:r>
              <a:rPr sz="1400" b="1" i="0">
                <a:solidFill>
                  <a:srgbClr val="0F2E2E"/>
                </a:solidFill>
                <a:latin typeface="Calibri"/>
              </a:rPr>
              <a:t>3. Server flashen</a:t>
            </a:r>
          </a:p>
          <a:p>
            <a:pPr marL="457200" indent="0">
              <a:spcBef>
                <a:spcPts val="100"/>
              </a:spcBef>
              <a:buNone/>
            </a:pPr>
            <a:r>
              <a:rPr sz="1200" b="0" i="0">
                <a:solidFill>
                  <a:srgbClr val="5B6B6B"/>
                </a:solidFill>
                <a:latin typeface="Calibri"/>
              </a:rPr>
              <a:t>MicroPython mit LVGL und den Server-Code auf den ESP32 laden.</a:t>
            </a:r>
          </a:p>
          <a:p>
            <a:pPr marL="457200" indent="-330200">
              <a:spcBef>
                <a:spcPts val="900"/>
              </a:spcBef>
              <a:buClr>
                <a:srgbClr val="0F2E2E"/>
              </a:buClr>
              <a:buSzPts val="1400"/>
              <a:buFont typeface="Calibri"/>
              <a:buChar char="●"/>
            </a:pPr>
            <a:r>
              <a:rPr sz="1400" b="1" i="0">
                <a:solidFill>
                  <a:srgbClr val="0F2E2E"/>
                </a:solidFill>
                <a:latin typeface="Calibri"/>
              </a:rPr>
              <a:t>4. Client bündeln</a:t>
            </a:r>
          </a:p>
          <a:p>
            <a:pPr marL="457200" indent="0">
              <a:spcBef>
                <a:spcPts val="100"/>
              </a:spcBef>
              <a:buNone/>
            </a:pPr>
            <a:r>
              <a:rPr sz="1200" b="0" i="0">
                <a:solidFill>
                  <a:srgbClr val="5B6B6B"/>
                </a:solidFill>
                <a:latin typeface="Calibri"/>
              </a:rPr>
              <a:t>Bundler erzeugt pybricks_bundle.py (eine Datei).</a:t>
            </a:r>
          </a:p>
          <a:p>
            <a:pPr marL="457200" indent="-330200">
              <a:spcBef>
                <a:spcPts val="900"/>
              </a:spcBef>
              <a:buClr>
                <a:srgbClr val="0F2E2E"/>
              </a:buClr>
              <a:buSzPts val="1400"/>
              <a:buFont typeface="Calibri"/>
              <a:buChar char="●"/>
            </a:pPr>
            <a:r>
              <a:rPr sz="1400" b="1" i="0">
                <a:solidFill>
                  <a:srgbClr val="0F2E2E"/>
                </a:solidFill>
                <a:latin typeface="Calibri"/>
              </a:rPr>
              <a:t>5. Programm schreiben</a:t>
            </a:r>
          </a:p>
          <a:p>
            <a:pPr marL="457200" indent="0">
              <a:spcBef>
                <a:spcPts val="100"/>
              </a:spcBef>
              <a:buNone/>
            </a:pPr>
            <a:r>
              <a:rPr sz="1200" b="0" i="0">
                <a:solidFill>
                  <a:srgbClr val="5B6B6B"/>
                </a:solidFill>
                <a:latin typeface="Calibri"/>
              </a:rPr>
              <a:t>Display(interceptor) anlegen, Screens, Labels und Buttons erzeugen, Bindings setzen.</a:t>
            </a:r>
          </a:p>
          <a:p>
            <a:pPr marL="0" indent="0">
              <a:spcBef>
                <a:spcPts val="900"/>
              </a:spcBef>
              <a:buNone/>
            </a:pPr>
            <a:r>
              <a:rPr sz="1400" b="0" i="1">
                <a:solidFill>
                  <a:srgbClr val="5B6B6B"/>
                </a:solidFill>
                <a:latin typeface="Calibri"/>
              </a:rPr>
              <a:t>Quelltext: github.com/mat-mv/legolab-tft-display (Stand: stand-projektarbeit)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Beispielprogramm auf dem Hub</a:t>
            </a:r>
          </a:p>
        </p:txBody>
      </p:sp>
      <p:sp>
        <p:nvSpPr>
          <p:cNvPr id="3" name="Text Placeholder 2"/>
          <p:cNvSpPr>
            <a:spLocks noGrp="1"/>
          </p:cNvSpPr>
          <p:nvPr>
            <p:ph type="body" idx="1"/>
          </p:nvPr>
        </p:nvSpPr>
        <p:spPr>
          <a:xfrm>
            <a:off x="5450000" y="1152475"/>
            <a:ext cx="3000000" cy="3416400"/>
          </a:xfrm>
        </p:spPr>
        <p:txBody>
          <a:bodyPr wrap="square"/>
          <a:lstStyle/>
          <a:p>
            <a:pPr marL="457200" indent="-330200">
              <a:spcBef>
                <a:spcPts val="0"/>
              </a:spcBef>
              <a:buClr>
                <a:srgbClr val="0F2E2E"/>
              </a:buClr>
              <a:buSzPts val="1400"/>
              <a:buFont typeface="Calibri"/>
              <a:buChar char="●"/>
            </a:pPr>
            <a:r>
              <a:rPr sz="1400" b="1" i="0">
                <a:solidFill>
                  <a:srgbClr val="0F2E2E"/>
                </a:solidFill>
                <a:latin typeface="Calibri"/>
              </a:rPr>
              <a:t>Bindings</a:t>
            </a:r>
          </a:p>
          <a:p>
            <a:pPr marL="457200" indent="0">
              <a:spcBef>
                <a:spcPts val="100"/>
              </a:spcBef>
              <a:buNone/>
            </a:pPr>
            <a:r>
              <a:rPr sz="1200" b="0" i="0">
                <a:solidFill>
                  <a:srgbClr val="5B6B6B"/>
                </a:solidFill>
                <a:latin typeface="Calibri"/>
              </a:rPr>
              <a:t>Screenwechsel direkt auf dem Display, ohne Übertragung.</a:t>
            </a:r>
          </a:p>
          <a:p>
            <a:pPr marL="457200" indent="-330200">
              <a:spcBef>
                <a:spcPts val="900"/>
              </a:spcBef>
              <a:buClr>
                <a:srgbClr val="0F2E2E"/>
              </a:buClr>
              <a:buSzPts val="1400"/>
              <a:buFont typeface="Calibri"/>
              <a:buChar char="●"/>
            </a:pPr>
            <a:r>
              <a:rPr sz="1400" b="1" i="0">
                <a:solidFill>
                  <a:srgbClr val="0F2E2E"/>
                </a:solidFill>
                <a:latin typeface="Calibri"/>
              </a:rPr>
              <a:t>Wenig Protokollwissen</a:t>
            </a:r>
          </a:p>
          <a:p>
            <a:pPr marL="457200" indent="0">
              <a:spcBef>
                <a:spcPts val="100"/>
              </a:spcBef>
              <a:buNone/>
            </a:pPr>
            <a:r>
              <a:rPr sz="1200" b="0" i="0">
                <a:solidFill>
                  <a:srgbClr val="5B6B6B"/>
                </a:solidFill>
                <a:latin typeface="Calibri"/>
              </a:rPr>
              <a:t>Aussehen wie gewöhnliches Python.</a:t>
            </a:r>
          </a:p>
          <a:p>
            <a:pPr marL="457200" indent="-330200">
              <a:spcBef>
                <a:spcPts val="900"/>
              </a:spcBef>
              <a:buClr>
                <a:srgbClr val="0F2E2E"/>
              </a:buClr>
              <a:buSzPts val="1400"/>
              <a:buFont typeface="Calibri"/>
              <a:buChar char="●"/>
            </a:pPr>
            <a:r>
              <a:rPr sz="1400" b="1" i="0">
                <a:solidFill>
                  <a:srgbClr val="0F2E2E"/>
                </a:solidFill>
                <a:latin typeface="Calibri"/>
              </a:rPr>
              <a:t>Erweiterbar</a:t>
            </a:r>
          </a:p>
          <a:p>
            <a:pPr marL="457200" indent="0">
              <a:spcBef>
                <a:spcPts val="100"/>
              </a:spcBef>
              <a:buNone/>
            </a:pPr>
            <a:r>
              <a:rPr sz="1200" b="0" i="0">
                <a:solidFill>
                  <a:srgbClr val="5B6B6B"/>
                </a:solidFill>
                <a:latin typeface="Calibri"/>
              </a:rPr>
              <a:t>Neuer Objekttyp: Basisklasse, Stellvertreter, Adapter.</a:t>
            </a:r>
          </a:p>
        </p:txBody>
      </p:sp>
      <p:sp>
        <p:nvSpPr>
          <p:cNvPr id="4" name="TextBox 3"/>
          <p:cNvSpPr txBox="1"/>
          <p:nvPr/>
        </p:nvSpPr>
        <p:spPr>
          <a:xfrm>
            <a:off x="311700" y="1150000"/>
            <a:ext cx="4900000" cy="3400000"/>
          </a:xfrm>
          <a:prstGeom prst="rect">
            <a:avLst/>
          </a:prstGeom>
          <a:solidFill>
            <a:srgbClr val="F3F3F3"/>
          </a:solidFill>
        </p:spPr>
        <p:txBody>
          <a:bodyPr wrap="square" lIns="91425" rIns="91425" tIns="70000" bIns="70000">
            <a:spAutoFit/>
          </a:bodyPr>
          <a:lstStyle/>
          <a:p>
            <a:r>
              <a:rPr sz="1000" b="0" i="0">
                <a:solidFill>
                  <a:srgbClr val="0F2E2E"/>
                </a:solidFill>
                <a:latin typeface="Courier New"/>
              </a:rPr>
              <a:t>main = display.create_screen(set_active=True)</a:t>
            </a:r>
          </a:p>
          <a:p>
            <a:r>
              <a:rPr sz="1000" b="0" i="0">
                <a:solidFill>
                  <a:srgbClr val="0F2E2E"/>
                </a:solidFill>
                <a:latin typeface="Courier New"/>
              </a:rPr>
              <a:t>menu = display.create_screen(name="menu")</a:t>
            </a:r>
          </a:p>
          <a:p>
            <a:r>
              <a:rPr sz="1000" b="0" i="0">
                <a:solidFill>
                  <a:srgbClr val="0F2E2E"/>
                </a:solidFill>
                <a:latin typeface="Courier New"/>
              </a:rPr>
              <a:t> </a:t>
            </a:r>
          </a:p>
          <a:p>
            <a:r>
              <a:rPr sz="1000" b="0" i="0">
                <a:solidFill>
                  <a:srgbClr val="0F2E2E"/>
                </a:solidFill>
                <a:latin typeface="Courier New"/>
              </a:rPr>
              <a:t>label = main.create_label(10, 10, 230, 20, "...")</a:t>
            </a:r>
          </a:p>
          <a:p>
            <a:r>
              <a:rPr sz="1000" b="0" i="0">
                <a:solidFill>
                  <a:srgbClr val="0F2E2E"/>
                </a:solidFill>
                <a:latin typeface="Courier New"/>
              </a:rPr>
              <a:t>to_menu = main.create_button(</a:t>
            </a:r>
          </a:p>
          <a:p>
            <a:r>
              <a:rPr sz="1000" b="0" i="0">
                <a:solidFill>
                  <a:srgbClr val="0F2E2E"/>
                </a:solidFill>
                <a:latin typeface="Courier New"/>
              </a:rPr>
              <a:t>    10, 60, 100, 40, "Menue")</a:t>
            </a:r>
          </a:p>
          <a:p>
            <a:r>
              <a:rPr sz="1000" b="0" i="0">
                <a:solidFill>
                  <a:srgbClr val="0F2E2E"/>
                </a:solidFill>
                <a:latin typeface="Courier New"/>
              </a:rPr>
              <a:t>to_main = menu.create_button(</a:t>
            </a:r>
          </a:p>
          <a:p>
            <a:r>
              <a:rPr sz="1000" b="0" i="0">
                <a:solidFill>
                  <a:srgbClr val="0F2E2E"/>
                </a:solidFill>
                <a:latin typeface="Courier New"/>
              </a:rPr>
              <a:t>    10, 60, 100, 40, "Zurueck")</a:t>
            </a:r>
          </a:p>
          <a:p>
            <a:r>
              <a:rPr sz="1000" b="0" i="0">
                <a:solidFill>
                  <a:srgbClr val="0F2E2E"/>
                </a:solidFill>
                <a:latin typeface="Courier New"/>
              </a:rPr>
              <a:t> </a:t>
            </a:r>
          </a:p>
          <a:p>
            <a:r>
              <a:rPr sz="1000" b="0" i="0">
                <a:solidFill>
                  <a:srgbClr val="5B6B6B"/>
                </a:solidFill>
                <a:latin typeface="Courier New"/>
              </a:rPr>
              <a:t># einmal deklarieren, danach lokal</a:t>
            </a:r>
          </a:p>
          <a:p>
            <a:r>
              <a:rPr sz="1000" b="0" i="0">
                <a:solidFill>
                  <a:srgbClr val="0F2E2E"/>
                </a:solidFill>
                <a:latin typeface="Courier New"/>
              </a:rPr>
              <a:t>to_menu.on_press(ACT_SHOW_SCREEN, menu)</a:t>
            </a:r>
          </a:p>
          <a:p>
            <a:r>
              <a:rPr sz="1000" b="0" i="0">
                <a:solidFill>
                  <a:srgbClr val="0F2E2E"/>
                </a:solidFill>
                <a:latin typeface="Courier New"/>
              </a:rPr>
              <a:t>to_main.on_press(ACT_SHOW_SCREEN, main)</a:t>
            </a:r>
          </a:p>
          <a:p>
            <a:r>
              <a:rPr sz="1000" b="0" i="0">
                <a:solidFill>
                  <a:srgbClr val="0F2E2E"/>
                </a:solidFill>
                <a:latin typeface="Courier New"/>
              </a:rPr>
              <a:t> </a:t>
            </a:r>
          </a:p>
          <a:p>
            <a:r>
              <a:rPr sz="1000" b="0" i="0">
                <a:solidFill>
                  <a:srgbClr val="0F2E2E"/>
                </a:solidFill>
                <a:latin typeface="Courier New"/>
              </a:rPr>
              <a:t>while True:</a:t>
            </a:r>
          </a:p>
          <a:p>
            <a:r>
              <a:rPr sz="1000" b="0" i="0">
                <a:solidFill>
                  <a:srgbClr val="0F2E2E"/>
                </a:solidFill>
                <a:latin typeface="Courier New"/>
              </a:rPr>
              <a:t>    label.set_text("Counter: {}".format(i))</a:t>
            </a:r>
          </a:p>
          <a:p>
            <a:r>
              <a:rPr sz="1000" b="0" i="0">
                <a:solidFill>
                  <a:srgbClr val="0F2E2E"/>
                </a:solidFill>
                <a:latin typeface="Courier New"/>
              </a:rPr>
              <a:t>    wait(1000)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Grenzen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Client blockiert</a:t>
            </a:r>
          </a:p>
          <a:p>
            <a:pPr marL="457200" indent="0">
              <a:spcBef>
                <a:spcPts val="100"/>
              </a:spcBef>
              <a:buNone/>
            </a:pPr>
            <a:r>
              <a:rPr sz="1300" b="0" i="0">
                <a:solidFill>
                  <a:srgbClr val="5B6B6B"/>
                </a:solidFill>
                <a:latin typeface="Calibri"/>
              </a:rPr>
              <a:t>Ein Aufruf dauert etwa 570 ms, in dieser Zeit steht alles still, etwa Motorregelung.</a:t>
            </a:r>
          </a:p>
          <a:p>
            <a:pPr marL="457200" indent="-330200">
              <a:spcBef>
                <a:spcPts val="900"/>
              </a:spcBef>
              <a:buClr>
                <a:srgbClr val="0F2E2E"/>
              </a:buClr>
              <a:buSzPts val="1400"/>
              <a:buFont typeface="Calibri"/>
              <a:buChar char="●"/>
            </a:pPr>
            <a:r>
              <a:rPr sz="1500" b="1" i="0">
                <a:solidFill>
                  <a:srgbClr val="0F2E2E"/>
                </a:solidFill>
                <a:latin typeface="Calibri"/>
              </a:rPr>
              <a:t>Reaktion über den Client</a:t>
            </a:r>
          </a:p>
          <a:p>
            <a:pPr marL="457200" indent="0">
              <a:spcBef>
                <a:spcPts val="100"/>
              </a:spcBef>
              <a:buNone/>
            </a:pPr>
            <a:r>
              <a:rPr sz="1300" b="0" i="0">
                <a:solidFill>
                  <a:srgbClr val="5B6B6B"/>
                </a:solidFill>
                <a:latin typeface="Calibri"/>
              </a:rPr>
              <a:t>Etwa 1,5 s; unter 100 ms nur über Bindings.</a:t>
            </a:r>
          </a:p>
          <a:p>
            <a:pPr marL="457200" indent="-330200">
              <a:spcBef>
                <a:spcPts val="900"/>
              </a:spcBef>
              <a:buClr>
                <a:srgbClr val="0F2E2E"/>
              </a:buClr>
              <a:buSzPts val="1400"/>
              <a:buFont typeface="Calibri"/>
              <a:buChar char="●"/>
            </a:pPr>
            <a:r>
              <a:rPr sz="1500" b="1" i="0">
                <a:solidFill>
                  <a:srgbClr val="0F2E2E"/>
                </a:solidFill>
                <a:latin typeface="Calibri"/>
              </a:rPr>
              <a:t>Ereignisse</a:t>
            </a:r>
          </a:p>
          <a:p>
            <a:pPr marL="457200" indent="0">
              <a:spcBef>
                <a:spcPts val="100"/>
              </a:spcBef>
              <a:buNone/>
            </a:pPr>
            <a:r>
              <a:rPr sz="1300" b="0" i="0">
                <a:solidFill>
                  <a:srgbClr val="5B6B6B"/>
                </a:solidFill>
                <a:latin typeface="Calibri"/>
              </a:rPr>
              <a:t>Jeder Button wird einzeln abgefragt, die Zahl der Aufrufe wächst mit den Bedienelementen.</a:t>
            </a:r>
          </a:p>
          <a:p>
            <a:pPr marL="457200" indent="-330200">
              <a:spcBef>
                <a:spcPts val="900"/>
              </a:spcBef>
              <a:buClr>
                <a:srgbClr val="0F2E2E"/>
              </a:buClr>
              <a:buSzPts val="1400"/>
              <a:buFont typeface="Calibri"/>
              <a:buChar char="●"/>
            </a:pPr>
            <a:r>
              <a:rPr sz="1500" b="1" i="0">
                <a:solidFill>
                  <a:srgbClr val="0F2E2E"/>
                </a:solidFill>
                <a:latin typeface="Calibri"/>
              </a:rPr>
              <a:t>Abstraktion</a:t>
            </a:r>
          </a:p>
          <a:p>
            <a:pPr marL="457200" indent="0">
              <a:spcBef>
                <a:spcPts val="100"/>
              </a:spcBef>
              <a:buNone/>
            </a:pPr>
            <a:r>
              <a:rPr sz="1300" b="0" i="0">
                <a:solidFill>
                  <a:srgbClr val="5B6B6B"/>
                </a:solidFill>
                <a:latin typeface="Calibri"/>
              </a:rPr>
              <a:t>Transparenz ist syntaktisch, nicht zeitlich. Kein Typcheck vor der Laufzeit.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Ausblick</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500" b="1" i="0">
                <a:solidFill>
                  <a:srgbClr val="0F2E2E"/>
                </a:solidFill>
                <a:latin typeface="Calibri"/>
              </a:rPr>
              <a:t>Ergebnis mit der Bestätigung</a:t>
            </a:r>
          </a:p>
          <a:p>
            <a:pPr marL="457200" indent="0">
              <a:spcBef>
                <a:spcPts val="100"/>
              </a:spcBef>
              <a:buNone/>
            </a:pPr>
            <a:r>
              <a:rPr sz="1300" b="0" i="0">
                <a:solidFill>
                  <a:srgbClr val="5B6B6B"/>
                </a:solidFill>
                <a:latin typeface="Calibri"/>
              </a:rPr>
              <a:t>Kurzer Aufruf von 5 auf 3 Round Trips, etwa 340 statt 570 ms.</a:t>
            </a:r>
          </a:p>
          <a:p>
            <a:pPr marL="457200" indent="-330200">
              <a:spcBef>
                <a:spcPts val="900"/>
              </a:spcBef>
              <a:buClr>
                <a:srgbClr val="0F2E2E"/>
              </a:buClr>
              <a:buSzPts val="1400"/>
              <a:buFont typeface="Calibri"/>
              <a:buChar char="●"/>
            </a:pPr>
            <a:r>
              <a:rPr sz="1500" b="1" i="0">
                <a:solidFill>
                  <a:srgbClr val="0F2E2E"/>
                </a:solidFill>
                <a:latin typeface="Calibri"/>
              </a:rPr>
              <a:t>Gemeinsamer Ereignispuffer</a:t>
            </a:r>
          </a:p>
          <a:p>
            <a:pPr marL="457200" indent="0">
              <a:spcBef>
                <a:spcPts val="100"/>
              </a:spcBef>
              <a:buNone/>
            </a:pPr>
            <a:r>
              <a:rPr sz="1300" b="0" i="0">
                <a:solidFill>
                  <a:srgbClr val="5B6B6B"/>
                </a:solidFill>
                <a:latin typeface="Calibri"/>
              </a:rPr>
              <a:t>Eine Abfrage für alle Bedienelemente, danach Rückrufe je Button.</a:t>
            </a:r>
          </a:p>
          <a:p>
            <a:pPr marL="457200" indent="-330200">
              <a:spcBef>
                <a:spcPts val="900"/>
              </a:spcBef>
              <a:buClr>
                <a:srgbClr val="0F2E2E"/>
              </a:buClr>
              <a:buSzPts val="1400"/>
              <a:buFont typeface="Calibri"/>
              <a:buChar char="●"/>
            </a:pPr>
            <a:r>
              <a:rPr sz="1500" b="1" i="0">
                <a:solidFill>
                  <a:srgbClr val="0F2E2E"/>
                </a:solidFill>
                <a:latin typeface="Calibri"/>
              </a:rPr>
              <a:t>async/await auf dem Hub</a:t>
            </a:r>
          </a:p>
          <a:p>
            <a:pPr marL="457200" indent="0">
              <a:spcBef>
                <a:spcPts val="100"/>
              </a:spcBef>
              <a:buNone/>
            </a:pPr>
            <a:r>
              <a:rPr sz="1300" b="0" i="0">
                <a:solidFill>
                  <a:srgbClr val="5B6B6B"/>
                </a:solidFill>
                <a:latin typeface="Calibri"/>
              </a:rPr>
              <a:t>Warten auf ein Ergebnis, ohne die übrige Anwendung anzuhalten.</a:t>
            </a:r>
          </a:p>
          <a:p>
            <a:pPr marL="457200" indent="-330200">
              <a:spcBef>
                <a:spcPts val="900"/>
              </a:spcBef>
              <a:buClr>
                <a:srgbClr val="0F2E2E"/>
              </a:buClr>
              <a:buSzPts val="1400"/>
              <a:buFont typeface="Calibri"/>
              <a:buChar char="●"/>
            </a:pPr>
            <a:r>
              <a:rPr sz="1500" b="1" i="0">
                <a:solidFill>
                  <a:srgbClr val="0F2E2E"/>
                </a:solidFill>
                <a:latin typeface="Calibri"/>
              </a:rPr>
              <a:t>Übertragbarkeit</a:t>
            </a:r>
          </a:p>
          <a:p>
            <a:pPr marL="457200" indent="0">
              <a:spcBef>
                <a:spcPts val="100"/>
              </a:spcBef>
              <a:buNone/>
            </a:pPr>
            <a:r>
              <a:rPr sz="1300" b="0" i="0">
                <a:solidFill>
                  <a:srgbClr val="5B6B6B"/>
                </a:solidFill>
                <a:latin typeface="Calibri"/>
              </a:rPr>
              <a:t>Andere Verbindungen (I²C, Modbus RTU, BLE): nur die Interceptor-Operation neu umsetzen.</a:t>
            </a:r>
          </a:p>
          <a:p>
            <a:pPr marL="457200" indent="-330200">
              <a:spcBef>
                <a:spcPts val="900"/>
              </a:spcBef>
              <a:buClr>
                <a:srgbClr val="0F2E2E"/>
              </a:buClr>
              <a:buSzPts val="1400"/>
              <a:buFont typeface="Calibri"/>
              <a:buChar char="●"/>
            </a:pPr>
            <a:r>
              <a:rPr sz="1500" b="1" i="0">
                <a:solidFill>
                  <a:srgbClr val="0F2E2E"/>
                </a:solidFill>
                <a:latin typeface="Calibri"/>
              </a:rPr>
              <a:t>Integrierte Platine, weitere Geräteklassen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Fazit</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800" b="1" i="0">
                <a:solidFill>
                  <a:srgbClr val="0F2E2E"/>
                </a:solidFill>
                <a:latin typeface="Calibri"/>
              </a:rPr>
              <a:t>Middleware statt Einzellösung</a:t>
            </a:r>
          </a:p>
          <a:p>
            <a:pPr marL="457200" indent="0">
              <a:spcBef>
                <a:spcPts val="100"/>
              </a:spcBef>
              <a:buNone/>
            </a:pPr>
            <a:r>
              <a:rPr sz="1500" b="0" i="0">
                <a:solidFill>
                  <a:srgbClr val="5B6B6B"/>
                </a:solidFill>
                <a:latin typeface="Calibri"/>
              </a:rPr>
              <a:t>Fünf Schichten, alles Wegabhängige in der untersten.</a:t>
            </a:r>
          </a:p>
          <a:p>
            <a:pPr marL="457200" indent="-330200">
              <a:spcBef>
                <a:spcPts val="900"/>
              </a:spcBef>
              <a:buClr>
                <a:srgbClr val="0F2E2E"/>
              </a:buClr>
              <a:buSzPts val="1400"/>
              <a:buFont typeface="Calibri"/>
              <a:buChar char="●"/>
            </a:pPr>
            <a:r>
              <a:rPr sz="1800" b="1" i="0">
                <a:solidFill>
                  <a:srgbClr val="0F2E2E"/>
                </a:solidFill>
                <a:latin typeface="Calibri"/>
              </a:rPr>
              <a:t>Übertragungen zählen</a:t>
            </a:r>
          </a:p>
          <a:p>
            <a:pPr marL="457200" indent="0">
              <a:spcBef>
                <a:spcPts val="100"/>
              </a:spcBef>
              <a:buNone/>
            </a:pPr>
            <a:r>
              <a:rPr sz="1500" b="0" i="0">
                <a:solidFill>
                  <a:srgbClr val="5B6B6B"/>
                </a:solidFill>
                <a:latin typeface="Calibri"/>
              </a:rPr>
              <a:t>114 ms je Round Trip; der Aufwand sank gegenüber der ersten Fassung auf die Hälfte.</a:t>
            </a:r>
          </a:p>
          <a:p>
            <a:pPr marL="457200" indent="-330200">
              <a:spcBef>
                <a:spcPts val="900"/>
              </a:spcBef>
              <a:buClr>
                <a:srgbClr val="0F2E2E"/>
              </a:buClr>
              <a:buSzPts val="1400"/>
              <a:buFont typeface="Calibri"/>
              <a:buChar char="●"/>
            </a:pPr>
            <a:r>
              <a:rPr sz="1800" b="1" i="0">
                <a:solidFill>
                  <a:srgbClr val="0F2E2E"/>
                </a:solidFill>
                <a:latin typeface="Calibri"/>
              </a:rPr>
              <a:t>Nutzbar, mit bekannten Grenzen</a:t>
            </a:r>
          </a:p>
          <a:p>
            <a:pPr marL="457200" indent="0">
              <a:spcBef>
                <a:spcPts val="100"/>
              </a:spcBef>
              <a:buNone/>
            </a:pPr>
            <a:r>
              <a:rPr sz="1500" b="0" i="0">
                <a:solidFill>
                  <a:srgbClr val="5B6B6B"/>
                </a:solidFill>
                <a:latin typeface="Calibri"/>
              </a:rPr>
              <a:t>Eine interaktive Oberfläche läuft, Schwächen sind gemessen und mit Weg zur Lösung benannt.</a:t>
            </a:r>
          </a:p>
          <a:p>
            <a:pPr marL="0" indent="0">
              <a:spcBef>
                <a:spcPts val="900"/>
              </a:spcBef>
              <a:buNone/>
            </a:pPr>
            <a:r>
              <a:rPr sz="1800" b="0" i="1">
                <a:solidFill>
                  <a:srgbClr val="5B6B6B"/>
                </a:solidFill>
                <a:latin typeface="Calibri"/>
              </a:rPr>
              <a:t>Vielen Dank. Fragen?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0" i="0">
                <a:solidFill>
                  <a:srgbClr val="0F2E2E"/>
                </a:solidFill>
                <a:latin typeface="Calibri"/>
              </a:rPr>
              <a:t>Quellen</a:t>
            </a:r>
          </a:p>
        </p:txBody>
      </p:sp>
      <p:sp>
        <p:nvSpPr>
          <p:cNvPr id="3" name="Text Placeholder 2"/>
          <p:cNvSpPr>
            <a:spLocks noGrp="1"/>
          </p:cNvSpPr>
          <p:nvPr>
            <p:ph type="body" idx="1"/>
          </p:nvPr>
        </p:nvSpPr>
        <p:spPr>
          <a:xfrm>
            <a:off x="311700" y="1152475"/>
            <a:ext cx="8138300" cy="3416400"/>
          </a:xfrm>
        </p:spPr>
        <p:txBody>
          <a:bodyPr wrap="square"/>
          <a:lstStyle/>
          <a:p>
            <a:pPr marL="457200" indent="-330200">
              <a:spcBef>
                <a:spcPts val="0"/>
              </a:spcBef>
              <a:buClr>
                <a:srgbClr val="0F2E2E"/>
              </a:buClr>
              <a:buSzPts val="1400"/>
              <a:buFont typeface="Calibri"/>
              <a:buChar char="●"/>
            </a:pPr>
            <a:r>
              <a:rPr sz="1600" b="0" i="0">
                <a:solidFill>
                  <a:srgbClr val="0F2E2E"/>
                </a:solidFill>
                <a:latin typeface="Calibri"/>
              </a:rPr>
              <a:t>Quelltext: github.com/mat-mv/legolab-tft-display</a:t>
            </a:r>
          </a:p>
          <a:p>
            <a:pPr marL="457200" indent="-330200">
              <a:spcBef>
                <a:spcPts val="900"/>
              </a:spcBef>
              <a:buClr>
                <a:srgbClr val="0F2E2E"/>
              </a:buClr>
              <a:buSzPts val="1400"/>
              <a:buFont typeface="Calibri"/>
              <a:buChar char="●"/>
            </a:pPr>
            <a:r>
              <a:rPr sz="1600" b="0" i="0">
                <a:solidFill>
                  <a:srgbClr val="0F2E2E"/>
                </a:solidFill>
                <a:latin typeface="Calibri"/>
              </a:rPr>
              <a:t>Pybricks (Firmware des SPIKE Prime Hubs)</a:t>
            </a:r>
          </a:p>
          <a:p>
            <a:pPr marL="457200" indent="-330200">
              <a:spcBef>
                <a:spcPts val="900"/>
              </a:spcBef>
              <a:buClr>
                <a:srgbClr val="0F2E2E"/>
              </a:buClr>
              <a:buSzPts val="1400"/>
              <a:buFont typeface="Calibri"/>
              <a:buChar char="●"/>
            </a:pPr>
            <a:r>
              <a:rPr sz="1600" b="0" i="0">
                <a:solidFill>
                  <a:srgbClr val="0F2E2E"/>
                </a:solidFill>
                <a:latin typeface="Calibri"/>
              </a:rPr>
              <a:t>PUPRemote 1.6 und LMS-ESP32 (Busanbindung, Hardware)</a:t>
            </a:r>
          </a:p>
          <a:p>
            <a:pPr marL="457200" indent="-330200">
              <a:spcBef>
                <a:spcPts val="900"/>
              </a:spcBef>
              <a:buClr>
                <a:srgbClr val="0F2E2E"/>
              </a:buClr>
              <a:buSzPts val="1400"/>
              <a:buFont typeface="Calibri"/>
              <a:buChar char="●"/>
            </a:pPr>
            <a:r>
              <a:rPr sz="1600" b="0" i="0">
                <a:solidFill>
                  <a:srgbClr val="0F2E2E"/>
                </a:solidFill>
                <a:latin typeface="Calibri"/>
              </a:rPr>
              <a:t>LVGL und lv_binding_micropython (Anzeige)</a:t>
            </a:r>
          </a:p>
          <a:p>
            <a:pPr marL="457200" indent="-330200">
              <a:spcBef>
                <a:spcPts val="900"/>
              </a:spcBef>
              <a:buClr>
                <a:srgbClr val="0F2E2E"/>
              </a:buClr>
              <a:buSzPts val="1400"/>
              <a:buFont typeface="Calibri"/>
              <a:buChar char="●"/>
            </a:pPr>
            <a:r>
              <a:rPr sz="1600" b="0" i="0">
                <a:solidFill>
                  <a:srgbClr val="0F2E2E"/>
                </a:solidFill>
                <a:latin typeface="Calibri"/>
              </a:rPr>
              <a:t>MessagePack (Serialisierung)</a:t>
            </a:r>
          </a:p>
          <a:p>
            <a:pPr marL="0" indent="0">
              <a:spcBef>
                <a:spcPts val="900"/>
              </a:spcBef>
              <a:buNone/>
            </a:pPr>
            <a:r>
              <a:rPr sz="1600" b="0" i="1">
                <a:solidFill>
                  <a:srgbClr val="5B6B6B"/>
                </a:solidFill>
                <a:latin typeface="Calibri"/>
              </a:rPr>
              <a:t>Vollständige Literaturangaben: siehe Thesis.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