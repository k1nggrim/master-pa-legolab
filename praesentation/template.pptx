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aedddd5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eaedddd5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Both papers: same problem, scaling without cost explosion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GLaM (Google) first, Mixtral as outlook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aedddd56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aedddd56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aedddd560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aedddd56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Dense transformer: every parameter active for every token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More capacity = more parameters = more compute, linearly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GPT-3 training: ~1,287 MWh (~120 German households/year)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Question: increase capacity, keep compute constant?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aedddd560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aedddd560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Instead of 1 large FFN: many small experts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Learned router picks the best 2 experts per token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Only selected experts run, rest stay idle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Parameter count grows with number of experts, compute per token stays constant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Formula: x · Wg → TopK → Softmax → weights for selected experts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Output = weighted sum of expert outputs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aedddd560_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aedddd560_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Classic block: Input + Positional Encoding → Self-Attention → Add&amp;Norm → FFN → Add&amp;Norm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fd232958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fd232958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Two block types alternating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MoE layer (bottom): 64 experts instead of 1 FFN, gating picks top-2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Regular layer (top): 1 FFN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Every other layer = MoE layer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1.2T total parameters, ~96.6B (8%) active per token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Notation 64B/64E: 64B base model, 64 experts/layer → adds up to 1.2T total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f50b546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f50b546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1.6T tokens: web pages, books, Wikipedia, forums, news, conversations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Learned linear quality classifier (feature hashing)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Pareto sampling: deliberately keeps some low-quality pages too (avoids bias)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Filtered data &gt; unfiltered, biggest gains on NLG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f50b546e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f50b546e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Beam search is </a:t>
            </a:r>
            <a:r>
              <a:rPr i="1" lang="de">
                <a:solidFill>
                  <a:schemeClr val="dk1"/>
                </a:solidFill>
              </a:rPr>
              <a:t>an algorit</a:t>
            </a:r>
            <a:r>
              <a:rPr i="1" lang="de">
                <a:solidFill>
                  <a:schemeClr val="dk1"/>
                </a:solidFill>
              </a:rPr>
              <a:t>h</a:t>
            </a:r>
            <a:r>
              <a:rPr i="1" lang="de">
                <a:solidFill>
                  <a:schemeClr val="dk1"/>
                </a:solidFill>
              </a:rPr>
              <a:t>m used in many NLP and speech recognition models</a:t>
            </a:r>
            <a:r>
              <a:rPr lang="de">
                <a:solidFill>
                  <a:schemeClr val="dk1"/>
                </a:solidFill>
              </a:rPr>
              <a:t> as a final decision making layer to choose the best output given target variables.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>
                <a:solidFill>
                  <a:schemeClr val="dk1"/>
                </a:solidFill>
              </a:rPr>
              <a:t>In-context, no fine-tuning (like GPT-3) (General-purpose LLMs)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>
                <a:solidFill>
                  <a:schemeClr val="dk1"/>
                </a:solidFill>
              </a:rPr>
              <a:t>29 tasks, 7 categories (21 NLU, 8 NLG)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>
                <a:solidFill>
                  <a:schemeClr val="dk1"/>
                </a:solidFill>
              </a:rPr>
              <a:t>Understanding: highest length-normalized log-likelihood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>
                <a:solidFill>
                  <a:schemeClr val="dk1"/>
                </a:solidFill>
              </a:rPr>
              <a:t>Generation: beam search (width 4), exact-match/F1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f50b546e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f50b546e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Bars above 0 = GLaM beats GPT-3 → almost everywhere, all 3 settings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~half the FLOPs/token (180 vs 350)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~a third of the training energy (456 vs 1,287 MWh)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f536ab0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f536ab0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Avg. accuracy: zero-shot 62.7 vs 56.9 (+10.2%)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One-shot 65.5 vs 61.6 (+6.3%)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Few-shot 68.1 vs 65.2 (+4.4%)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TriviaQA open-domain: GLaM one-shot even beats fine-tuned models (75.8 vs 69.8 KG-FiD)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f536ab04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f536ab04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Open-weight, Apache 2.0, first SOTA MoE among open models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8 experts per layer (not 64), EVERY layer (not every other)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Top-2 routing, like GLaM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47B total, ~13B active (5x fewer than dense Llama 2 70B)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Matches/beats Llama 2 70B &amp; GPT-3.5, strong on math/code/multilingual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f536ab04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f536ab04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No topic specialization (ArXiv, biology, philosophy ~evenly distributed)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Specialization by syntax (e.g. 'self' in Python → same expert)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Positional locality: consecutive tokens often share an expert (deeper layers) → useful for caching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f536ab04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f536ab04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Left: even domain distribution across experts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Right: syntax specialization, consistent across multiple layers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f536ab04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f536ab04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MoE: capacity up, compute per token constant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Router learns expert-token assignment automatically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GLaM: trillion-scale, efficient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Mixtral: same principle, open-weight, fewer experts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Experts specialize by syntax, not topic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aedddd56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aedddd56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3431875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6544" y="3431473"/>
            <a:ext cx="548700" cy="12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rxiv.org/pdf/2112.06905" TargetMode="External"/><Relationship Id="rId4" Type="http://schemas.openxmlformats.org/officeDocument/2006/relationships/hyperlink" Target="https://arxiv.org/pdf/2401.04088" TargetMode="External"/><Relationship Id="rId5" Type="http://schemas.openxmlformats.org/officeDocument/2006/relationships/hyperlink" Target="https://arxiv.org/abs/1706.0376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891925"/>
            <a:ext cx="8520600" cy="286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5600">
                <a:latin typeface="Roboto"/>
                <a:ea typeface="Roboto"/>
                <a:cs typeface="Roboto"/>
                <a:sym typeface="Roboto"/>
              </a:rPr>
              <a:t>GLaM + </a:t>
            </a:r>
            <a:r>
              <a:rPr lang="de" sz="5600">
                <a:latin typeface="Roboto"/>
                <a:ea typeface="Roboto"/>
                <a:cs typeface="Roboto"/>
                <a:sym typeface="Roboto"/>
              </a:rPr>
              <a:t>Mixtral of Experts </a:t>
            </a:r>
            <a:endParaRPr sz="5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8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43250" y="4528625"/>
            <a:ext cx="88575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Florian Kaiser, Jannis Nau												       29.06.2026</a:t>
            </a:r>
            <a:endParaRPr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18100" y="175675"/>
            <a:ext cx="35781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AI - Lecture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Agenda	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029569"/>
            <a:ext cx="8520600" cy="38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GLaM</a:t>
            </a: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de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(Du et al., 2022)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Motivation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Core Idea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Mixtral of Experts</a:t>
            </a: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de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(Jiang et al., 2024)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Intro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What do “Experts” actually learn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800" y="2725894"/>
            <a:ext cx="3481401" cy="1575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4800000" dist="38100">
              <a:srgbClr val="000000">
                <a:alpha val="70000"/>
              </a:srgbClr>
            </a:outerShdw>
          </a:effectLst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7317" y="1024064"/>
            <a:ext cx="3481399" cy="136166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4800000" dist="38100">
              <a:srgbClr val="000000">
                <a:alpha val="70000"/>
              </a:srgbClr>
            </a:outerShdw>
          </a:effectLst>
        </p:spPr>
      </p:pic>
      <p:sp>
        <p:nvSpPr>
          <p:cNvPr id="67" name="Google Shape;67;p14"/>
          <p:cNvSpPr txBox="1"/>
          <p:nvPr/>
        </p:nvSpPr>
        <p:spPr>
          <a:xfrm>
            <a:off x="8258725" y="2082425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[1]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8258725" y="3997625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[2]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Motivation - Dense Models don’t scale well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In a classic dense transformer, every single parameter is active for every token.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More capability means more parameters.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Computational costs and energy consumption grow linearly with model size.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Outcome</a:t>
            </a:r>
            <a:br>
              <a:rPr lang="de" sz="1600">
                <a:latin typeface="Calibri"/>
                <a:ea typeface="Calibri"/>
                <a:cs typeface="Calibri"/>
                <a:sym typeface="Calibri"/>
              </a:rPr>
            </a:b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Scaling quickly becomes prohibitively expensive. </a:t>
            </a:r>
            <a:br>
              <a:rPr lang="de" sz="1600">
                <a:latin typeface="Calibri"/>
                <a:ea typeface="Calibri"/>
                <a:cs typeface="Calibri"/>
                <a:sym typeface="Calibri"/>
              </a:rPr>
            </a:b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GPT-3 consumed ~1,287 MWh during training alone.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500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Core idea - A Mixture-of-Experts</a:t>
            </a:r>
            <a:endParaRPr sz="2500">
              <a:solidFill>
                <a:srgbClr val="0F2E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11475" y="1334525"/>
            <a:ext cx="4084800" cy="3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2E2E"/>
              </a:buClr>
              <a:buSzPts val="1600"/>
              <a:buFont typeface="Calibri"/>
              <a:buChar char="●"/>
            </a:pPr>
            <a:r>
              <a:rPr b="1" i="0" lang="de" sz="1600" u="none" cap="none" strike="noStrike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Big total capacity, small active compute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B6B6B"/>
              </a:buClr>
              <a:buSzPts val="1100"/>
              <a:buFont typeface="Calibri"/>
              <a:buNone/>
            </a:pPr>
            <a:r>
              <a:rPr i="0" lang="de" sz="1600" u="none" cap="none" strike="noStrik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Only the selected experts run, so parameter count grows without growing per-token FLOPs.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2E2E"/>
              </a:buClr>
              <a:buSzPts val="1600"/>
              <a:buFont typeface="Calibri"/>
              <a:buChar char="●"/>
            </a:pPr>
            <a:r>
              <a:rPr b="1" i="0" lang="de" sz="1600" u="none" cap="none" strike="noStrike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Softmax gating over experts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B6B6B"/>
              </a:buClr>
              <a:buSzPts val="1100"/>
              <a:buFont typeface="Calibri"/>
              <a:buNone/>
            </a:pPr>
            <a:r>
              <a:rPr i="0" lang="de" sz="1600" u="none" cap="none" strike="noStrik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The gate uses a softmax to model how well each expert fits the token</a:t>
            </a: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i="0" lang="de" sz="1600" u="none" cap="none" strike="noStrik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i="0" lang="de" sz="1600" u="none" cap="none" strike="noStrik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utputs are a weighted sum.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2E2E"/>
              </a:buClr>
              <a:buSzPts val="1600"/>
              <a:buFont typeface="Calibri"/>
              <a:buChar char="●"/>
            </a:pPr>
            <a:r>
              <a:rPr b="1" lang="de" sz="1600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de" sz="1600" u="none" cap="none" strike="noStrike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op-2 routing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B6B6B"/>
              </a:buClr>
              <a:buSzPts val="1100"/>
              <a:buFont typeface="Calibri"/>
              <a:buNone/>
            </a:pPr>
            <a:r>
              <a:rPr i="0" lang="de" sz="1600" u="none" cap="none" strike="noStrik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Each token is processed by its 2 best experts</a:t>
            </a: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i="0" lang="de" sz="1600" u="none" cap="none" strike="noStrik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 a balance of quality and efficiency.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" name="Google Shape;81;p16"/>
          <p:cNvGrpSpPr/>
          <p:nvPr/>
        </p:nvGrpSpPr>
        <p:grpSpPr>
          <a:xfrm>
            <a:off x="4572012" y="1334532"/>
            <a:ext cx="4084691" cy="1868823"/>
            <a:chOff x="4869075" y="1735400"/>
            <a:chExt cx="4274925" cy="1955859"/>
          </a:xfrm>
        </p:grpSpPr>
        <p:pic>
          <p:nvPicPr>
            <p:cNvPr id="82" name="Google Shape;82;p16" title="1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69075" y="1735400"/>
              <a:ext cx="4274924" cy="1955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6"/>
            <p:cNvSpPr txBox="1"/>
            <p:nvPr/>
          </p:nvSpPr>
          <p:spPr>
            <a:xfrm>
              <a:off x="8737200" y="3387950"/>
              <a:ext cx="406800" cy="30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350" lIns="87350" spcFirstLastPara="1" rIns="87350" wrap="square" tIns="87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1147">
                  <a:solidFill>
                    <a:schemeClr val="dk2"/>
                  </a:solidFill>
                </a:rPr>
                <a:t>[2]</a:t>
              </a:r>
              <a:endParaRPr sz="1147">
                <a:solidFill>
                  <a:schemeClr val="dk2"/>
                </a:solidFill>
              </a:endParaRPr>
            </a:p>
          </p:txBody>
        </p:sp>
      </p:grpSp>
      <p:sp>
        <p:nvSpPr>
          <p:cNvPr id="84" name="Google Shape;84;p16"/>
          <p:cNvSpPr txBox="1"/>
          <p:nvPr/>
        </p:nvSpPr>
        <p:spPr>
          <a:xfrm>
            <a:off x="4601275" y="3267125"/>
            <a:ext cx="233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G(x) = </a:t>
            </a:r>
            <a:r>
              <a:rPr b="1" lang="de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Softmax</a:t>
            </a:r>
            <a:r>
              <a:rPr lang="de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de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TopK</a:t>
            </a:r>
            <a:r>
              <a:rPr lang="de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(x · Wg))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 rot="-3876">
            <a:off x="5303575" y="2742576"/>
            <a:ext cx="266100" cy="524400"/>
          </a:xfrm>
          <a:prstGeom prst="upArrow">
            <a:avLst>
              <a:gd fmla="val 32069" name="adj1"/>
              <a:gd fmla="val 5366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 title="Group 1.png"/>
          <p:cNvPicPr preferRelativeResize="0"/>
          <p:nvPr/>
        </p:nvPicPr>
        <p:blipFill rotWithShape="1">
          <a:blip r:embed="rId3">
            <a:alphaModFix/>
          </a:blip>
          <a:srcRect b="0" l="0" r="0" t="18969"/>
          <a:stretch/>
        </p:blipFill>
        <p:spPr>
          <a:xfrm>
            <a:off x="4732325" y="1017725"/>
            <a:ext cx="1723900" cy="38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500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Core idea - Transformer Decoder-only</a:t>
            </a:r>
            <a:endParaRPr sz="2500">
              <a:solidFill>
                <a:srgbClr val="0F2E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603663" y="4564475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[3]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1307" y="445025"/>
            <a:ext cx="3378442" cy="41505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500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Core idea - Architecture</a:t>
            </a:r>
            <a:endParaRPr sz="2500">
              <a:solidFill>
                <a:srgbClr val="0F2E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6950675" y="2571750"/>
            <a:ext cx="10773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B"/>
              </a:buClr>
              <a:buSzPts val="1000"/>
              <a:buFont typeface="Calibri"/>
              <a:buNone/>
            </a:pPr>
            <a:r>
              <a:rPr b="0" i="1" lang="de" sz="1000" u="none" cap="none" strike="noStrik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Every other layer is an MoE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392030" y="4519146"/>
            <a:ext cx="301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B"/>
              </a:buClr>
              <a:buSzPts val="900"/>
              <a:buFont typeface="Calibri"/>
              <a:buNone/>
            </a:pPr>
            <a:r>
              <a:rPr b="0" i="0" lang="de" sz="900" u="none" cap="none" strike="noStrik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↑ input tokens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572000" y="4292275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[1]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411475" y="1334525"/>
            <a:ext cx="3909000" cy="3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de" sz="1600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Decoder-only</a:t>
            </a:r>
            <a:endParaRPr b="1" sz="1600">
              <a:solidFill>
                <a:srgbClr val="0F2E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Generalist LM, evaluated zero/one/few-shot</a:t>
            </a:r>
            <a:b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de" sz="1600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64 experts / MoE layer</a:t>
            </a:r>
            <a:endParaRPr b="1" sz="1600">
              <a:solidFill>
                <a:srgbClr val="0F2E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Gating selects the top 2 per token</a:t>
            </a:r>
            <a:b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de" sz="1600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MoE every other layer</a:t>
            </a:r>
            <a:endParaRPr b="1" sz="1600">
              <a:solidFill>
                <a:srgbClr val="0F2E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Interleaved with standard Transformer layers</a:t>
            </a:r>
            <a:b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de" sz="1600">
                <a:solidFill>
                  <a:srgbClr val="0F2E2E"/>
                </a:solidFill>
                <a:latin typeface="Calibri"/>
                <a:ea typeface="Calibri"/>
                <a:cs typeface="Calibri"/>
                <a:sym typeface="Calibri"/>
              </a:rPr>
              <a:t>1.2T total params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but only ~96.6B (8%) active per token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B6B6B"/>
              </a:buClr>
              <a:buSzPts val="1100"/>
              <a:buFont typeface="Calibri"/>
              <a:buNone/>
            </a:pPr>
            <a:r>
              <a:t/>
            </a:r>
            <a:endParaRPr sz="1600"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Training 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608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1.6 trillion tokens</a:t>
            </a:r>
            <a:br>
              <a:rPr lang="de" sz="1600">
                <a:latin typeface="Calibri"/>
                <a:ea typeface="Calibri"/>
                <a:cs typeface="Calibri"/>
                <a:sym typeface="Calibri"/>
              </a:rPr>
            </a:b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A broad corpus of web pages, books, Wikipedia, forums, news and public conversations.</a:t>
            </a:r>
            <a:b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A learned quality filter</a:t>
            </a:r>
            <a:br>
              <a:rPr lang="de" sz="1600">
                <a:latin typeface="Calibri"/>
                <a:ea typeface="Calibri"/>
                <a:cs typeface="Calibri"/>
                <a:sym typeface="Calibri"/>
              </a:rPr>
            </a:b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A feature-hash linear classifier scores web pages against curated text. Pareto sampling still keeps some low-quality pages to avoid bias.</a:t>
            </a:r>
            <a:br>
              <a:rPr lang="de" sz="1600">
                <a:latin typeface="Calibri"/>
                <a:ea typeface="Calibri"/>
                <a:cs typeface="Calibri"/>
                <a:sym typeface="Calibri"/>
              </a:rPr>
            </a:b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Quality beats quantity</a:t>
            </a:r>
            <a:br>
              <a:rPr lang="de" sz="1600">
                <a:latin typeface="Calibri"/>
                <a:ea typeface="Calibri"/>
                <a:cs typeface="Calibri"/>
                <a:sym typeface="Calibri"/>
              </a:rPr>
            </a:b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Filtered data consistently outperforms unfiltered, with the largest gains on text generation (NLG).</a:t>
            </a:r>
            <a:endParaRPr sz="1600"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9250" y="1088400"/>
            <a:ext cx="3014750" cy="128129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8689625" y="1975075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[1]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Evaluation - in-context, no fine-tuning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Zero- / one- / few-shot only</a:t>
            </a:r>
            <a:br>
              <a:rPr b="1" lang="de" sz="1600">
                <a:latin typeface="Calibri"/>
                <a:ea typeface="Calibri"/>
                <a:cs typeface="Calibri"/>
                <a:sym typeface="Calibri"/>
              </a:rPr>
            </a:b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Tasks are solved purely from a few in-context examples (like GPT-3)</a:t>
            </a:r>
            <a:b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29 tasks across 7 categories</a:t>
            </a:r>
            <a:br>
              <a:rPr b="1" lang="de" sz="1600">
                <a:latin typeface="Calibri"/>
                <a:ea typeface="Calibri"/>
                <a:cs typeface="Calibri"/>
                <a:sym typeface="Calibri"/>
              </a:rPr>
            </a:b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21 language-understanding (NLU) and 8 generation (NLG) benchmarks.</a:t>
            </a:r>
            <a:b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Understanding tasks</a:t>
            </a:r>
            <a:br>
              <a:rPr lang="de" sz="1600">
                <a:latin typeface="Calibri"/>
                <a:ea typeface="Calibri"/>
                <a:cs typeface="Calibri"/>
                <a:sym typeface="Calibri"/>
              </a:rPr>
            </a:b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Pick the option with the highest length-normalised log-likelihood.</a:t>
            </a:r>
            <a:br>
              <a:rPr lang="de" sz="1600">
                <a:latin typeface="Calibri"/>
                <a:ea typeface="Calibri"/>
                <a:cs typeface="Calibri"/>
                <a:sym typeface="Calibri"/>
              </a:rPr>
            </a:b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Generation tasks</a:t>
            </a:r>
            <a:br>
              <a:rPr lang="de" sz="1600">
                <a:latin typeface="Calibri"/>
                <a:ea typeface="Calibri"/>
                <a:cs typeface="Calibri"/>
                <a:sym typeface="Calibri"/>
              </a:rPr>
            </a:br>
            <a:r>
              <a:rPr lang="de" sz="1600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Beam search (width 4), scored by exact-match / F1.</a:t>
            </a:r>
            <a:endParaRPr sz="1600"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GLaM - Results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3690800"/>
            <a:ext cx="81474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Bars above zero mean GLaM beats GPT-3. It does so in almost every category, in all three settings.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And it gets there with ca. half the FLOPs / token (180 vs 350) and about third of the training energy (456 vs 1,287 MWh).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21" title="Bildschirmfoto 2026-06-11 um 11.03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10650"/>
            <a:ext cx="8520599" cy="221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1167725" y="3326925"/>
            <a:ext cx="6540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(a)–(c) per-category % change of GLaM (64B/64E) vs GPT-3 across 7 categories,  (d) inference FLOPs / token and training energy. [1]</a:t>
            </a:r>
            <a:endParaRPr sz="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263850" y="3246825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[1]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GLaM - Results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152475"/>
            <a:ext cx="501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Average accuracy across the 29 tasks for: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Zero-shot,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One-shot,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Few-shot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Outperforms SOTA (state-of-the-art) few shot Model (GPT-3) for open domain.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763" y="1285875"/>
            <a:ext cx="381952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7750" y="2929275"/>
            <a:ext cx="2989575" cy="15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4727575" y="2268450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[1]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5134375" y="4151050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[1]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Mixtral - the same idea, with open weights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de">
                <a:latin typeface="Calibri"/>
                <a:ea typeface="Calibri"/>
                <a:cs typeface="Calibri"/>
                <a:sym typeface="Calibri"/>
              </a:rPr>
              <a:t>Sparse Mixture-of-Experts (SMoE)</a:t>
            </a:r>
            <a:br>
              <a:rPr lang="de">
                <a:latin typeface="Calibri"/>
                <a:ea typeface="Calibri"/>
                <a:cs typeface="Calibri"/>
                <a:sym typeface="Calibri"/>
              </a:rPr>
            </a:br>
            <a: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Decoder-only, every feed-forward block is replaced by 8 experts. A router picks the top-2 experts.</a:t>
            </a:r>
            <a:br>
              <a:rPr lang="de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de">
                <a:latin typeface="Calibri"/>
                <a:ea typeface="Calibri"/>
                <a:cs typeface="Calibri"/>
                <a:sym typeface="Calibri"/>
              </a:rPr>
              <a:t>47B total parameters, only ~13B active</a:t>
            </a:r>
            <a:br>
              <a:rPr lang="de">
                <a:latin typeface="Calibri"/>
                <a:ea typeface="Calibri"/>
                <a:cs typeface="Calibri"/>
                <a:sym typeface="Calibri"/>
              </a:rPr>
            </a:br>
            <a: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Each token sees just 2 of the 8 experts → 5x fewer active parameters than dense Llama 2 70B, so inference stays cheap.</a:t>
            </a:r>
            <a:b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de">
                <a:latin typeface="Calibri"/>
                <a:ea typeface="Calibri"/>
                <a:cs typeface="Calibri"/>
                <a:sym typeface="Calibri"/>
              </a:rPr>
              <a:t>Trained at 32k context, released open-weight</a:t>
            </a:r>
            <a:br>
              <a:rPr lang="de">
                <a:latin typeface="Calibri"/>
                <a:ea typeface="Calibri"/>
                <a:cs typeface="Calibri"/>
                <a:sym typeface="Calibri"/>
              </a:rPr>
            </a:br>
            <a: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Base and Instruct models published under Apache 2.0. The first MoE network to reach state-of-the-art among open models.</a:t>
            </a:r>
            <a:b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de">
                <a:latin typeface="Calibri"/>
                <a:ea typeface="Calibri"/>
                <a:cs typeface="Calibri"/>
                <a:sym typeface="Calibri"/>
              </a:rPr>
              <a:t>Matches GPT-3.5 and Llama 2 70B</a:t>
            </a:r>
            <a:br>
              <a:rPr lang="de">
                <a:latin typeface="Calibri"/>
                <a:ea typeface="Calibri"/>
                <a:cs typeface="Calibri"/>
                <a:sym typeface="Calibri"/>
              </a:rPr>
            </a:br>
            <a: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Equal or better on most benchmarks, and far ahead on mathematics, code generation and multilingual tasks.</a:t>
            </a:r>
            <a:endParaRPr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624000" y="4568875"/>
            <a:ext cx="78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Difference from GLaM:</a:t>
            </a:r>
            <a:r>
              <a:rPr lang="d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experts at every layer (not every other), and 8 experts per layer instead of 64.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Mixtral - what the experts learn and how it scores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311700" y="1152475"/>
            <a:ext cx="5478300" cy="34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What the experts learn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No topic specialisation: ArXiv, biology and philosophy route almost identically.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Experts track syntax: 'self' in Python or code indentation hit the same expert.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Strong positional locality: consecutive tokens often share an expert (deeper layers), useful for caching.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de" sz="1600">
                <a:latin typeface="Calibri"/>
                <a:ea typeface="Calibri"/>
                <a:cs typeface="Calibri"/>
                <a:sym typeface="Calibri"/>
              </a:rPr>
              <a:t>How it performs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de" sz="1600">
                <a:latin typeface="Calibri"/>
                <a:ea typeface="Calibri"/>
                <a:cs typeface="Calibri"/>
                <a:sym typeface="Calibri"/>
              </a:rPr>
              <a:t>Matches/beats GPT-3.5 &amp; Llama 2 70B with 5 times fewer active params.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0000" y="1152475"/>
            <a:ext cx="3049200" cy="2108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 txBox="1"/>
          <p:nvPr/>
        </p:nvSpPr>
        <p:spPr>
          <a:xfrm>
            <a:off x="5790000" y="2957725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[2]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3700"/>
            <a:ext cx="4535175" cy="313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90910"/>
            <a:ext cx="4571999" cy="265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/>
        </p:nvSpPr>
        <p:spPr>
          <a:xfrm>
            <a:off x="0" y="3848750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[2]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4535175" y="3848750"/>
            <a:ext cx="40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</a:rPr>
              <a:t>[2]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311700" y="941275"/>
            <a:ext cx="77013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Sparsity scales capacity, not cost</a:t>
            </a:r>
            <a:b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Mixture-of-Experts grows total parameters while keeping the compute per token roughly constant. </a:t>
            </a:r>
            <a:endParaRPr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learned router </a:t>
            </a:r>
            <a:r>
              <a:rPr b="1"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oes the work</a:t>
            </a:r>
            <a:b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A softmax top-k gate sends each token to its best few experts, only those experts run.</a:t>
            </a:r>
            <a:endParaRPr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GLaM - trillion-scale, efficient</a:t>
            </a:r>
            <a:b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1.2T parameters but ~8% active per token: GPT-3-level quality at about half the per-token FLOPs and a third of the training energy.</a:t>
            </a:r>
            <a:b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Mixtral - the same recipe, open-weight</a:t>
            </a:r>
            <a:b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  <a:t>13B active parameters beat dense Llama 2 70B. Experts specialise by syntax rather than topic.</a:t>
            </a:r>
            <a:br>
              <a:rPr lang="de">
                <a:solidFill>
                  <a:srgbClr val="5B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rgbClr val="5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b="1"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Mixture-of-Experts is now a practical path to bigger, cheaper LLMs.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Literature + List of Figures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[1] GLaM, Du et al., 2022, </a:t>
            </a:r>
            <a:r>
              <a:rPr lang="de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https://arxiv.org/pdf/2112.06905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[2] Mixtral of Experts, Jiang et al., 2024, </a:t>
            </a:r>
            <a:r>
              <a:rPr lang="de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https://arxiv.org/pdf/2401.04088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latin typeface="Calibri"/>
                <a:ea typeface="Calibri"/>
                <a:cs typeface="Calibri"/>
                <a:sym typeface="Calibri"/>
              </a:rPr>
              <a:t>[3] Attention Is All You Need, Vaswani et al. 2017, </a:t>
            </a:r>
            <a:r>
              <a:rPr lang="de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https://arxiv.org/abs/1706.03762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